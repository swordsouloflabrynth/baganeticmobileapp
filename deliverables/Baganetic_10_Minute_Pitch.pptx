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8e88a585da403d" /><Relationship Type="http://schemas.openxmlformats.org/officeDocument/2006/relationships/extended-properties" Target="/docProps/app.xml" Id="R9f1ed0909cb542fe" /><Relationship Type="http://schemas.openxmlformats.org/officeDocument/2006/relationships/officeDocument" Target="/ppt/presentation.xml" Id="Rf32a9c27b3914f9d" /></Relationships>
</file>

<file path=ppt/presentation.xml><?xml version="1.0" encoding="utf-8"?>
<p:presentation xmlns:p="http://schemas.openxmlformats.org/presentationml/2006/main">
  <p:sldMasterIdLst>
    <p:sldMasterId xmlns:r="http://schemas.openxmlformats.org/officeDocument/2006/relationships" id="2147483648" r:id="R153bb632e7bc4284"/>
  </p:sldMasterIdLst>
  <p:notesMasterIdLst>
    <p:notesMasterId xmlns:r="http://schemas.openxmlformats.org/officeDocument/2006/relationships" r:id="Rab38f9fd506d4b26"/>
  </p:notesMasterIdLst>
  <p:sldIdLst>
    <p:sldId xmlns:r="http://schemas.openxmlformats.org/officeDocument/2006/relationships" id="256" r:id="R4a804da4c2344178"/>
    <p:sldId xmlns:r="http://schemas.openxmlformats.org/officeDocument/2006/relationships" id="257" r:id="R86e1ea5131ce4796"/>
    <p:sldId xmlns:r="http://schemas.openxmlformats.org/officeDocument/2006/relationships" id="258" r:id="Rbd4fee4351bb489c"/>
    <p:sldId xmlns:r="http://schemas.openxmlformats.org/officeDocument/2006/relationships" id="259" r:id="R2e05da84fcaa45af"/>
    <p:sldId xmlns:r="http://schemas.openxmlformats.org/officeDocument/2006/relationships" id="260" r:id="R4f3de1974f4e4baf"/>
    <p:sldId xmlns:r="http://schemas.openxmlformats.org/officeDocument/2006/relationships" id="261" r:id="R2b6bc253533b469a"/>
    <p:sldId xmlns:r="http://schemas.openxmlformats.org/officeDocument/2006/relationships" id="262" r:id="R28b4c60a2cee41f9"/>
    <p:sldId xmlns:r="http://schemas.openxmlformats.org/officeDocument/2006/relationships" id="263" r:id="R0eac3925f1d448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afc96032bd4fa3" /><Relationship Type="http://schemas.openxmlformats.org/officeDocument/2006/relationships/slideMaster" Target="/ppt/slideMasters/slideMaster1.xml" Id="R153bb632e7bc4284" /><Relationship Type="http://schemas.openxmlformats.org/officeDocument/2006/relationships/notesMaster" Target="/ppt/notesMasters/notesMaster1.xml" Id="Rab38f9fd506d4b26" /><Relationship Type="http://schemas.openxmlformats.org/officeDocument/2006/relationships/presProps" Target="/ppt/presProps.xml" Id="R902ecd003be643f5" /><Relationship Type="http://schemas.openxmlformats.org/officeDocument/2006/relationships/tableStyles" Target="/ppt/tableStyles.xml" Id="R4d6e6e5a9ca847b7" /><Relationship Type="http://schemas.openxmlformats.org/officeDocument/2006/relationships/slide" Target="/ppt/slides/slide1.xml" Id="R4a804da4c2344178" /><Relationship Type="http://schemas.openxmlformats.org/officeDocument/2006/relationships/slide" Target="/ppt/slides/slide2.xml" Id="R86e1ea5131ce4796" /><Relationship Type="http://schemas.openxmlformats.org/officeDocument/2006/relationships/slide" Target="/ppt/slides/slide3.xml" Id="Rbd4fee4351bb489c" /><Relationship Type="http://schemas.openxmlformats.org/officeDocument/2006/relationships/slide" Target="/ppt/slides/slide4.xml" Id="R2e05da84fcaa45af" /><Relationship Type="http://schemas.openxmlformats.org/officeDocument/2006/relationships/slide" Target="/ppt/slides/slide5.xml" Id="R4f3de1974f4e4baf" /><Relationship Type="http://schemas.openxmlformats.org/officeDocument/2006/relationships/slide" Target="/ppt/slides/slide6.xml" Id="R2b6bc253533b469a" /><Relationship Type="http://schemas.openxmlformats.org/officeDocument/2006/relationships/slide" Target="/ppt/slides/slide7.xml" Id="R28b4c60a2cee41f9" /><Relationship Type="http://schemas.openxmlformats.org/officeDocument/2006/relationships/slide" Target="/ppt/slides/slide8.xml" Id="R0eac3925f1d448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821538661843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59994a82fc433d" /><Relationship Type="http://schemas.openxmlformats.org/officeDocument/2006/relationships/notesMaster" Target="/ppt/notesMasters/notesMaster1.xml" Id="R4bc688c1e9a64e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6ff8195a504244" /><Relationship Type="http://schemas.openxmlformats.org/officeDocument/2006/relationships/notesMaster" Target="/ppt/notesMasters/notesMaster1.xml" Id="R0864e94b3af347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66e69a0a7d47f1" /><Relationship Type="http://schemas.openxmlformats.org/officeDocument/2006/relationships/notesMaster" Target="/ppt/notesMasters/notesMaster1.xml" Id="R6c0ec04ff77446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2fe68d0b354b94" /><Relationship Type="http://schemas.openxmlformats.org/officeDocument/2006/relationships/notesMaster" Target="/ppt/notesMasters/notesMaster1.xml" Id="Rad5b6b56b3cd43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619a283df54bc5" /><Relationship Type="http://schemas.openxmlformats.org/officeDocument/2006/relationships/notesMaster" Target="/ppt/notesMasters/notesMaster1.xml" Id="R9f5f828ac36648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174f12075b41da" /><Relationship Type="http://schemas.openxmlformats.org/officeDocument/2006/relationships/notesMaster" Target="/ppt/notesMasters/notesMaster1.xml" Id="R72399c4ccac34c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7d9edc19b94257" /><Relationship Type="http://schemas.openxmlformats.org/officeDocument/2006/relationships/notesMaster" Target="/ppt/notesMasters/notesMaster1.xml" Id="R85692999f23146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2647ddcc904263" /><Relationship Type="http://schemas.openxmlformats.org/officeDocument/2006/relationships/notesMaster" Target="/ppt/notesMasters/notesMaster1.xml" Id="Rb97c37943c6948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Open with the central promise: Baganetic makes a visit to Bagan easier to plan and richer to experience. The slides show the working Android result, not only a concept.</a:t>
            </a:r>
          </a:p>
          <a:p xmlns:a="http://schemas.openxmlformats.org/drawingml/2006/main">
            <a:r>
              <a:t/>
            </a:r>
          </a:p>
          <a:p xmlns:a="http://schemas.openxmlformats.org/drawingml/2006/main">
            <a:r>
              <a:t>[Sources]</a:t>
            </a:r>
          </a:p>
          <a:p xmlns:a="http://schemas.openxmlformats.org/drawingml/2006/main">
            <a:r>
              <a:t>- Project asset: assets/images/stitch/bagan_sunrise.jpg (Baganetic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0:30–1:30. Make the problem personal: planning a Bagan day usually splits between maps, searches, notes, and social advice. Baganetic brings these actions into one coherent journey.</a:t>
            </a:r>
          </a:p>
          <a:p xmlns:a="http://schemas.openxmlformats.org/drawingml/2006/main">
            <a:r>
              <a:t/>
            </a:r>
          </a:p>
          <a:p xmlns:a="http://schemas.openxmlformats.org/drawingml/2006/main">
            <a:r>
              <a:t>[Sources]</a:t>
            </a:r>
          </a:p>
          <a:p xmlns:a="http://schemas.openxmlformats.org/drawingml/2006/main">
            <a:r>
              <a:t>- Project asset: assets/images/stitch/shwesandaw_postcard.jpg (Baganetic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1:30–3:00. Show these two screens briefly. Point out the visual home experience, featured pagodas, search, reading-friendly detail, and bookmark action. Then move to the map, where a saved place becomes a route.</a:t>
            </a:r>
          </a:p>
          <a:p xmlns:a="http://schemas.openxmlformats.org/drawingml/2006/main">
            <a:r>
              <a:t/>
            </a:r>
          </a:p>
          <a:p xmlns:a="http://schemas.openxmlformats.org/drawingml/2006/main">
            <a:r>
              <a:t>[Sources]</a:t>
            </a:r>
          </a:p>
          <a:p xmlns:a="http://schemas.openxmlformats.org/drawingml/2006/main">
            <a:r>
              <a:t>- Android screenshots: self-captured from the Baganetic running build on a Galaxy A56, 12 Aug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3:00–4:30. This is the key proof slide. Show the working map on the physical Android build. Explain that map markers represent the pagodas and the app offers Browse, Shortest, and Plan Trip modes. Mention the practical reliability improvement only briefly.</a:t>
            </a:r>
          </a:p>
          <a:p xmlns:a="http://schemas.openxmlformats.org/drawingml/2006/main">
            <a:r>
              <a:t/>
            </a:r>
          </a:p>
          <a:p xmlns:a="http://schemas.openxmlformats.org/drawingml/2006/main">
            <a:r>
              <a:t>[Sources]</a:t>
            </a:r>
          </a:p>
          <a:p xmlns:a="http://schemas.openxmlformats.org/drawingml/2006/main">
            <a:r>
              <a:t>- Android screenshot: self-captured from the Baganetic running build on a Galaxy A56, 12 Aug 2026.</a:t>
            </a:r>
          </a:p>
          <a:p xmlns:a="http://schemas.openxmlformats.org/drawingml/2006/main">
            <a:r>
              <a:t>- Map tiles: OpenStreetMap-compatible public tile services, rendered in the app.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4:30–6:00. Connect features to a single traveller story: discover Ananda, save it, add it to a journey, then return to the map. Community and profile complete the product as an ongoing travel journal.</a:t>
            </a:r>
          </a:p>
          <a:p xmlns:a="http://schemas.openxmlformats.org/drawingml/2006/main">
            <a:r>
              <a:t/>
            </a:r>
          </a:p>
          <a:p xmlns:a="http://schemas.openxmlformats.org/drawingml/2006/main">
            <a:r>
              <a:t>[Sources]</a:t>
            </a:r>
          </a:p>
          <a:p xmlns:a="http://schemas.openxmlformats.org/drawingml/2006/main">
            <a:r>
              <a:t>- Android screenshots: self-captured from the Baganetic running build on a Galaxy A56, 12 Aug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6:00–8:30. Use this slide as the handoff to the live demo. Spend roughly 30 seconds per action. If time is short, show Explore → Save → Plan only; the audience will still see the complete loop.</a:t>
            </a:r>
          </a:p>
          <a:p xmlns:a="http://schemas.openxmlformats.org/drawingml/2006/main">
            <a:r>
              <a:t/>
            </a:r>
          </a:p>
          <a:p xmlns:a="http://schemas.openxmlformats.org/drawingml/2006/main">
            <a:r>
              <a:t>[Sources]</a:t>
            </a:r>
          </a:p>
          <a:p xmlns:a="http://schemas.openxmlformats.org/drawingml/2006/main">
            <a:r>
              <a:t>- Product flow reflects the working Baganetic Android build.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8:30–9:30. Summarize the tangible output. Keep the language grounded: this is a working prototype that proves the main experience and is ready to be tested with real travellers.</a:t>
            </a:r>
          </a:p>
          <a:p xmlns:a="http://schemas.openxmlformats.org/drawingml/2006/main">
            <a:r>
              <a:t/>
            </a:r>
          </a:p>
          <a:p xmlns:a="http://schemas.openxmlformats.org/drawingml/2006/main">
            <a:r>
              <a:t>[Sources]</a:t>
            </a:r>
          </a:p>
          <a:p xmlns:a="http://schemas.openxmlformats.org/drawingml/2006/main">
            <a:r>
              <a:t>- Project asset: assets/images/stitch/ananda_postcard.jpg (Baganetic workspace).</a:t>
            </a:r>
          </a:p>
          <a:p xmlns:a="http://schemas.openxmlformats.org/drawingml/2006/main">
            <a:r>
              <a:t>- Physical-device validation: Baganetic Android arm64 build tested on Galaxy A56, 12 Aug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9:30–10:00. Close by returning to the promise: Baganetic lets a visitor move from curiosity to a more meaningful, better-planned day in Bagan. Invite the audience to watch the live demo or ask questions.</a:t>
            </a:r>
          </a:p>
          <a:p xmlns:a="http://schemas.openxmlformats.org/drawingml/2006/main">
            <a:r>
              <a:t/>
            </a:r>
          </a:p>
          <a:p xmlns:a="http://schemas.openxmlformats.org/drawingml/2006/main">
            <a:r>
              <a:t>[Sources]</a:t>
            </a:r>
          </a:p>
          <a:p xmlns:a="http://schemas.openxmlformats.org/drawingml/2006/main">
            <a:r>
              <a:t>- Project asset: assets/images/stitch/bagan_sunrise.jpg (Baganetic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638437345e41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b6aae7dbbb4f97" /><Relationship Type="http://schemas.openxmlformats.org/officeDocument/2006/relationships/slideLayout" Target="/ppt/slideLayouts/slideLayout1.xml" Id="R887b9966eacf49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7b9966eacf49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5cdc100d2a4eb1" /><Relationship Type="http://schemas.openxmlformats.org/officeDocument/2006/relationships/image" Target="/ppt/media/image.jpeg" Id="R02090da41f5d4262" /><Relationship Type="http://schemas.openxmlformats.org/officeDocument/2006/relationships/notesSlide" Target="/ppt/notesSlides/notesSlide1.xml" Id="R386a6c43f22d48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1a7864e5f14ca9" /><Relationship Type="http://schemas.openxmlformats.org/officeDocument/2006/relationships/image" Target="/ppt/media/image2.jpeg" Id="R305f359880d34f06" /><Relationship Type="http://schemas.openxmlformats.org/officeDocument/2006/relationships/notesSlide" Target="/ppt/notesSlides/notesSlide2.xml" Id="Rd3824fa44b9443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c9b205344a4f37" /><Relationship Type="http://schemas.openxmlformats.org/officeDocument/2006/relationships/image" Target="/ppt/media/image.png" Id="Rfd95a5fd1d8644f1" /><Relationship Type="http://schemas.openxmlformats.org/officeDocument/2006/relationships/image" Target="/ppt/media/image2.png" Id="Rde5a14bef1af4334" /><Relationship Type="http://schemas.openxmlformats.org/officeDocument/2006/relationships/notesSlide" Target="/ppt/notesSlides/notesSlide3.xml" Id="R72583357efd045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90ef318de94b6a" /><Relationship Type="http://schemas.openxmlformats.org/officeDocument/2006/relationships/image" Target="/ppt/media/image3.png" Id="R2fea21a14acc42f9" /><Relationship Type="http://schemas.openxmlformats.org/officeDocument/2006/relationships/notesSlide" Target="/ppt/notesSlides/notesSlide4.xml" Id="Rbdd3520a3ea34c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43237b3d8b493c" /><Relationship Type="http://schemas.openxmlformats.org/officeDocument/2006/relationships/image" Target="/ppt/media/image4.png" Id="R3083842b3ec84e90" /><Relationship Type="http://schemas.openxmlformats.org/officeDocument/2006/relationships/image" Target="/ppt/media/image5.png" Id="R55e9cd03afcf4254" /><Relationship Type="http://schemas.openxmlformats.org/officeDocument/2006/relationships/notesSlide" Target="/ppt/notesSlides/notesSlide5.xml" Id="Re66005fb400849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70e87f4ba24bb6" /><Relationship Type="http://schemas.openxmlformats.org/officeDocument/2006/relationships/notesSlide" Target="/ppt/notesSlides/notesSlide6.xml" Id="R567c698c01a443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5812a4c4e247c2" /><Relationship Type="http://schemas.openxmlformats.org/officeDocument/2006/relationships/image" Target="/ppt/media/image3.jpeg" Id="Rc7ffd010659a4d77" /><Relationship Type="http://schemas.openxmlformats.org/officeDocument/2006/relationships/notesSlide" Target="/ppt/notesSlides/notesSlide7.xml" Id="R84fa7be490d340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2c405935764636" /><Relationship Type="http://schemas.openxmlformats.org/officeDocument/2006/relationships/image" Target="/ppt/media/image4.jpeg" Id="R8d3e13f3146a4d35" /><Relationship Type="http://schemas.openxmlformats.org/officeDocument/2006/relationships/notesSlide" Target="/ppt/notesSlides/notesSlide8.xml" Id="R809c8c8502e547dd" /></Relationships>
</file>

<file path=ppt/slides/slide1.xml><?xml version="1.0" encoding="utf-8"?>
<p:sld xmlns:p="http://schemas.openxmlformats.org/presentationml/2006/main">
  <p:cSld>
    <p:bg>
      <p:bgPr>
        <a:solidFill xmlns:a="http://schemas.openxmlformats.org/drawingml/2006/main">
          <a:srgbClr val="3A221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2090da41f5d4262"/>
          <a:srcRect xmlns:a="http://schemas.openxmlformats.org/drawingml/2006/main" l="0" t="31158" r="0" b="3115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8B2B49-7731-4ACD-821A-F65136754E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140D">
              <a:alpha val="72157"/>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D9F6CA-B6BD-4E26-80CF-4CE74A6991E7}"/>
              </a:ext>
            </a:extLst>
          </p:cNvPr>
          <p:cNvSpPr>
            <a:spLocks xmlns:a="http://schemas.openxmlformats.org/drawingml/2006/main" noGrp="1"/>
          </p:cNvSpPr>
          <p:nvPr/>
        </p:nvSpPr>
        <p:spPr>
          <a:xfrm xmlns:a="http://schemas.openxmlformats.org/drawingml/2006/main">
            <a:off x="723900" y="7048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C99E42"/>
                </a:solidFill>
                <a:latin typeface="Aptos"/>
                <a:ea typeface="Aptos"/>
                <a:cs typeface="Aptos"/>
              </a:defRPr>
            </a:pPr>
            <a:r>
              <a:rPr sz="1350" b="1" i="0">
                <a:solidFill>
                  <a:srgbClr val="C99E42"/>
                </a:solidFill>
                <a:latin typeface="Aptos"/>
                <a:ea typeface="Aptos"/>
                <a:cs typeface="Aptos"/>
              </a:rPr>
              <a:t>BAGANETIC</a:t>
            </a:r>
          </a:p>
        </p:txBody>
      </p:sp>
      <p:sp>
        <p:nvSpPr>
          <p:cNvPr id="4" name="">
            <a:extLst xmlns:a="http://schemas.openxmlformats.org/drawingml/2006/main">
              <a:ext uri="{FF2B5EF4-FFF2-40B4-BE49-F238E27FC236}">
                <a16:creationId xmlns:a16="http://schemas.microsoft.com/office/drawing/2014/main" id="{33CBAA40-EA18-40E8-BFAE-9C16E8599966}"/>
              </a:ext>
            </a:extLst>
          </p:cNvPr>
          <p:cNvSpPr>
            <a:spLocks xmlns:a="http://schemas.openxmlformats.org/drawingml/2006/main" noGrp="1"/>
          </p:cNvSpPr>
          <p:nvPr/>
        </p:nvSpPr>
        <p:spPr>
          <a:xfrm xmlns:a="http://schemas.openxmlformats.org/drawingml/2006/main">
            <a:off x="723900" y="1952625"/>
            <a:ext cx="7048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i="0">
                <a:solidFill>
                  <a:srgbClr val="FFFFFF"/>
                </a:solidFill>
                <a:latin typeface="Georgia"/>
                <a:ea typeface="Georgia"/>
                <a:cs typeface="Georgia"/>
              </a:defRPr>
            </a:pPr>
            <a:r>
              <a:rPr sz="4800" b="1" i="0">
                <a:solidFill>
                  <a:srgbClr val="FFFFFF"/>
                </a:solidFill>
                <a:latin typeface="Georgia"/>
                <a:ea typeface="Georgia"/>
                <a:cs typeface="Georgia"/>
              </a:rPr>
              <a:t>A more meaningful</a:t>
            </a:r>
          </a:p>
          <a:p xmlns:a="http://schemas.openxmlformats.org/drawingml/2006/main">
            <a:pPr algn="l">
              <a:defRPr sz="4800" b="1" i="0">
                <a:solidFill>
                  <a:srgbClr val="FFFFFF"/>
                </a:solidFill>
                <a:latin typeface="Georgia"/>
                <a:ea typeface="Georgia"/>
                <a:cs typeface="Georgia"/>
              </a:defRPr>
            </a:pPr>
            <a:r>
              <a:rPr sz="4800" b="1" i="0">
                <a:solidFill>
                  <a:srgbClr val="FFFFFF"/>
                </a:solidFill>
                <a:latin typeface="Georgia"/>
                <a:ea typeface="Georgia"/>
                <a:cs typeface="Georgia"/>
              </a:rPr>
              <a:t>way to explore Bagan</a:t>
            </a:r>
          </a:p>
        </p:txBody>
      </p:sp>
      <p:sp>
        <p:nvSpPr>
          <p:cNvPr id="5" name="">
            <a:extLst xmlns:a="http://schemas.openxmlformats.org/drawingml/2006/main">
              <a:ext uri="{FF2B5EF4-FFF2-40B4-BE49-F238E27FC236}">
                <a16:creationId xmlns:a16="http://schemas.microsoft.com/office/drawing/2014/main" id="{A5D8A544-6131-4B98-9D02-6BC26B778D6B}"/>
              </a:ext>
            </a:extLst>
          </p:cNvPr>
          <p:cNvSpPr>
            <a:spLocks xmlns:a="http://schemas.openxmlformats.org/drawingml/2006/main" noGrp="1"/>
          </p:cNvSpPr>
          <p:nvPr/>
        </p:nvSpPr>
        <p:spPr>
          <a:xfrm xmlns:a="http://schemas.openxmlformats.org/drawingml/2006/main">
            <a:off x="762000" y="4333875"/>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F7EBDD"/>
                </a:solidFill>
                <a:latin typeface="Aptos"/>
                <a:ea typeface="Aptos"/>
                <a:cs typeface="Aptos"/>
              </a:defRPr>
            </a:pPr>
            <a:r>
              <a:rPr sz="1800" b="0" i="0">
                <a:solidFill>
                  <a:srgbClr val="F7EBDD"/>
                </a:solidFill>
                <a:latin typeface="Aptos"/>
                <a:ea typeface="Aptos"/>
                <a:cs typeface="Aptos"/>
              </a:rPr>
              <a:t>Heritage discovery, trip planning, and local travel context in one mobile journal.</a:t>
            </a:r>
          </a:p>
        </p:txBody>
      </p:sp>
      <p:sp>
        <p:nvSpPr>
          <p:cNvPr id="6" name="">
            <a:extLst xmlns:a="http://schemas.openxmlformats.org/drawingml/2006/main">
              <a:ext uri="{FF2B5EF4-FFF2-40B4-BE49-F238E27FC236}">
                <a16:creationId xmlns:a16="http://schemas.microsoft.com/office/drawing/2014/main" id="{7C4D7178-1C0B-41D5-AE1E-1229C5829DA3}"/>
              </a:ext>
            </a:extLst>
          </p:cNvPr>
          <p:cNvSpPr>
            <a:spLocks xmlns:a="http://schemas.openxmlformats.org/drawingml/2006/main" noGrp="1"/>
          </p:cNvSpPr>
          <p:nvPr/>
        </p:nvSpPr>
        <p:spPr>
          <a:xfrm xmlns:a="http://schemas.openxmlformats.org/drawingml/2006/main">
            <a:off x="762000" y="5429250"/>
            <a:ext cx="2190750" cy="0"/>
          </a:xfrm>
          <a:prstGeom xmlns:a="http://schemas.openxmlformats.org/drawingml/2006/main" prst="line">
            <a:avLst/>
          </a:prstGeom>
          <a:noFill xmlns:a="http://schemas.openxmlformats.org/drawingml/2006/main"/>
          <a:ln xmlns:a="http://schemas.openxmlformats.org/drawingml/2006/main" w="13335">
            <a:solidFill>
              <a:srgbClr val="C99E42"/>
            </a:solidFill>
            <a:prstDash val="solid"/>
          </a:ln>
        </p:spPr>
      </p:sp>
      <p:sp>
        <p:nvSpPr>
          <p:cNvPr id="7" name="">
            <a:extLst xmlns:a="http://schemas.openxmlformats.org/drawingml/2006/main">
              <a:ext uri="{FF2B5EF4-FFF2-40B4-BE49-F238E27FC236}">
                <a16:creationId xmlns:a16="http://schemas.microsoft.com/office/drawing/2014/main" id="{E7F798F9-A8C3-48E2-9A8A-5BE44DF3636C}"/>
              </a:ext>
            </a:extLst>
          </p:cNvPr>
          <p:cNvSpPr>
            <a:spLocks xmlns:a="http://schemas.openxmlformats.org/drawingml/2006/main" noGrp="1"/>
          </p:cNvSpPr>
          <p:nvPr/>
        </p:nvSpPr>
        <p:spPr>
          <a:xfrm xmlns:a="http://schemas.openxmlformats.org/drawingml/2006/main">
            <a:off x="762000" y="56197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FFFFF"/>
                </a:solidFill>
                <a:latin typeface="Aptos"/>
                <a:ea typeface="Aptos"/>
                <a:cs typeface="Aptos"/>
              </a:defRPr>
            </a:pPr>
            <a:r>
              <a:rPr sz="975" b="1" i="0">
                <a:solidFill>
                  <a:srgbClr val="FFFFFF"/>
                </a:solidFill>
                <a:latin typeface="Aptos"/>
                <a:ea typeface="Aptos"/>
                <a:cs typeface="Aptos"/>
              </a:rPr>
              <a:t>WORKING ANDROID PROTOTYPE  •  10-MINUTE PITCH</a:t>
            </a:r>
          </a:p>
        </p:txBody>
      </p:sp>
    </p:spTree>
    <p:extLst>
      <p:ext uri="{BB962C8B-B14F-4D97-AF65-F5344CB8AC3E}">
        <p14:creationId xmlns:p14="http://schemas.microsoft.com/office/powerpoint/2010/main" val="1406696985"/>
      </p:ext>
    </p:extLst>
  </p:cSld>
</p:sld>
</file>

<file path=ppt/slides/slide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496FB4-74FA-4A28-B271-6B3DA76CDE17}"/>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B65331"/>
                </a:solidFill>
                <a:latin typeface="Aptos"/>
                <a:ea typeface="Aptos"/>
                <a:cs typeface="Aptos"/>
              </a:defRPr>
            </a:pPr>
            <a:r>
              <a:rPr sz="975" b="1" i="0">
                <a:solidFill>
                  <a:srgbClr val="B65331"/>
                </a:solidFill>
                <a:latin typeface="Aptos"/>
                <a:ea typeface="Aptos"/>
                <a:cs typeface="Aptos"/>
              </a:rPr>
              <a:t>THE OPPORTUNITY</a:t>
            </a:r>
          </a:p>
        </p:txBody>
      </p:sp>
      <p:sp>
        <p:nvSpPr>
          <p:cNvPr id="2" name="">
            <a:extLst xmlns:a="http://schemas.openxmlformats.org/drawingml/2006/main">
              <a:ext uri="{FF2B5EF4-FFF2-40B4-BE49-F238E27FC236}">
                <a16:creationId xmlns:a16="http://schemas.microsoft.com/office/drawing/2014/main" id="{C7B0BAD3-FE52-4240-9CC1-F8EF3946FD3E}"/>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806F65"/>
                </a:solidFill>
                <a:latin typeface="Aptos"/>
                <a:ea typeface="Aptos"/>
                <a:cs typeface="Aptos"/>
              </a:defRPr>
            </a:pPr>
            <a:r>
              <a:rPr sz="975" b="1" i="0">
                <a:solidFill>
                  <a:srgbClr val="806F65"/>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D01FFDB7-C6C1-4DAE-AD05-E795A97F0086}"/>
              </a:ext>
            </a:extLst>
          </p:cNvPr>
          <p:cNvSpPr>
            <a:spLocks xmlns:a="http://schemas.openxmlformats.org/drawingml/2006/main" noGrp="1"/>
          </p:cNvSpPr>
          <p:nvPr/>
        </p:nvSpPr>
        <p:spPr>
          <a:xfrm xmlns:a="http://schemas.openxmlformats.org/drawingml/2006/main">
            <a:off x="685800" y="102870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2B1D14"/>
                </a:solidFill>
                <a:latin typeface="Georgia"/>
                <a:ea typeface="Georgia"/>
                <a:cs typeface="Georgia"/>
              </a:defRPr>
            </a:pPr>
            <a:r>
              <a:rPr sz="3600" b="1" i="0">
                <a:solidFill>
                  <a:srgbClr val="2B1D14"/>
                </a:solidFill>
                <a:latin typeface="Georgia"/>
                <a:ea typeface="Georgia"/>
                <a:cs typeface="Georgia"/>
              </a:rPr>
              <a:t>Bagan is not just a place</a:t>
            </a:r>
          </a:p>
          <a:p xmlns:a="http://schemas.openxmlformats.org/drawingml/2006/main">
            <a:pPr algn="l">
              <a:defRPr sz="3600" b="1" i="0">
                <a:solidFill>
                  <a:srgbClr val="2B1D14"/>
                </a:solidFill>
                <a:latin typeface="Georgia"/>
                <a:ea typeface="Georgia"/>
                <a:cs typeface="Georgia"/>
              </a:defRPr>
            </a:pPr>
            <a:r>
              <a:rPr sz="3600" b="1" i="0">
                <a:solidFill>
                  <a:srgbClr val="2B1D14"/>
                </a:solidFill>
                <a:latin typeface="Georgia"/>
                <a:ea typeface="Georgia"/>
                <a:cs typeface="Georgia"/>
              </a:rPr>
              <a:t>to pin on a map.</a:t>
            </a:r>
          </a:p>
        </p:txBody>
      </p:sp>
      <p:sp>
        <p:nvSpPr>
          <p:cNvPr id="4" name="">
            <a:extLst xmlns:a="http://schemas.openxmlformats.org/drawingml/2006/main">
              <a:ext uri="{FF2B5EF4-FFF2-40B4-BE49-F238E27FC236}">
                <a16:creationId xmlns:a16="http://schemas.microsoft.com/office/drawing/2014/main" id="{6AC80686-F502-44AE-BC3D-53DB6C7266E1}"/>
              </a:ext>
            </a:extLst>
          </p:cNvPr>
          <p:cNvSpPr>
            <a:spLocks xmlns:a="http://schemas.openxmlformats.org/drawingml/2006/main" noGrp="1"/>
          </p:cNvSpPr>
          <p:nvPr/>
        </p:nvSpPr>
        <p:spPr>
          <a:xfrm xmlns:a="http://schemas.openxmlformats.org/drawingml/2006/main">
            <a:off x="685800" y="2762250"/>
            <a:ext cx="495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806F65"/>
                </a:solidFill>
                <a:latin typeface="Aptos"/>
                <a:ea typeface="Aptos"/>
                <a:cs typeface="Aptos"/>
              </a:defRPr>
            </a:pPr>
            <a:r>
              <a:rPr sz="1875" b="0" i="0">
                <a:solidFill>
                  <a:srgbClr val="806F65"/>
                </a:solidFill>
                <a:latin typeface="Aptos"/>
                <a:ea typeface="Aptos"/>
                <a:cs typeface="Aptos"/>
              </a:rPr>
              <a:t>Visitors need routes, but they also need stories, context, and confidence in the next stop.</a:t>
            </a:r>
          </a:p>
        </p:txBody>
      </p:sp>
      <p:sp>
        <p:nvSpPr>
          <p:cNvPr id="5" name="">
            <a:extLst xmlns:a="http://schemas.openxmlformats.org/drawingml/2006/main">
              <a:ext uri="{FF2B5EF4-FFF2-40B4-BE49-F238E27FC236}">
                <a16:creationId xmlns:a16="http://schemas.microsoft.com/office/drawing/2014/main" id="{A5593752-D085-44EF-81B8-203A7F7D8C69}"/>
              </a:ext>
            </a:extLst>
          </p:cNvPr>
          <p:cNvSpPr>
            <a:spLocks xmlns:a="http://schemas.openxmlformats.org/drawingml/2006/main" noGrp="1"/>
          </p:cNvSpPr>
          <p:nvPr/>
        </p:nvSpPr>
        <p:spPr>
          <a:xfrm xmlns:a="http://schemas.openxmlformats.org/drawingml/2006/main">
            <a:off x="685800" y="4210050"/>
            <a:ext cx="4705350" cy="0"/>
          </a:xfrm>
          <a:prstGeom xmlns:a="http://schemas.openxmlformats.org/drawingml/2006/main" prst="line">
            <a:avLst/>
          </a:prstGeom>
          <a:noFill xmlns:a="http://schemas.openxmlformats.org/drawingml/2006/main"/>
          <a:ln xmlns:a="http://schemas.openxmlformats.org/drawingml/2006/main" w="13335">
            <a:solidFill>
              <a:srgbClr val="B65331"/>
            </a:solidFill>
            <a:prstDash val="solid"/>
          </a:ln>
        </p:spPr>
      </p:sp>
      <p:sp>
        <p:nvSpPr>
          <p:cNvPr id="6" name="">
            <a:extLst xmlns:a="http://schemas.openxmlformats.org/drawingml/2006/main">
              <a:ext uri="{FF2B5EF4-FFF2-40B4-BE49-F238E27FC236}">
                <a16:creationId xmlns:a16="http://schemas.microsoft.com/office/drawing/2014/main" id="{A4C9894C-D74D-4F45-AB0F-DED43AC9C503}"/>
              </a:ext>
            </a:extLst>
          </p:cNvPr>
          <p:cNvSpPr>
            <a:spLocks xmlns:a="http://schemas.openxmlformats.org/drawingml/2006/main" noGrp="1"/>
          </p:cNvSpPr>
          <p:nvPr/>
        </p:nvSpPr>
        <p:spPr>
          <a:xfrm xmlns:a="http://schemas.openxmlformats.org/drawingml/2006/main">
            <a:off x="704850" y="45720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99E42"/>
                </a:solidFill>
                <a:latin typeface="Aptos"/>
                <a:ea typeface="Aptos"/>
                <a:cs typeface="Aptos"/>
              </a:defRPr>
            </a:pPr>
            <a:r>
              <a:rPr sz="1125" b="1" i="0">
                <a:solidFill>
                  <a:srgbClr val="C99E42"/>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6BAD3468-5056-41D0-825C-EA9BC475301B}"/>
              </a:ext>
            </a:extLst>
          </p:cNvPr>
          <p:cNvSpPr>
            <a:spLocks xmlns:a="http://schemas.openxmlformats.org/drawingml/2006/main" noGrp="1"/>
          </p:cNvSpPr>
          <p:nvPr/>
        </p:nvSpPr>
        <p:spPr>
          <a:xfrm xmlns:a="http://schemas.openxmlformats.org/drawingml/2006/main">
            <a:off x="1257300" y="45529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2B1D14"/>
                </a:solidFill>
                <a:latin typeface="Aptos"/>
                <a:ea typeface="Aptos"/>
                <a:cs typeface="Aptos"/>
              </a:defRPr>
            </a:pPr>
            <a:r>
              <a:rPr sz="1500" b="1" i="0">
                <a:solidFill>
                  <a:srgbClr val="2B1D14"/>
                </a:solidFill>
                <a:latin typeface="Aptos"/>
                <a:ea typeface="Aptos"/>
                <a:cs typeface="Aptos"/>
              </a:rPr>
              <a:t>Discover</a:t>
            </a:r>
          </a:p>
        </p:txBody>
      </p:sp>
      <p:sp>
        <p:nvSpPr>
          <p:cNvPr id="8" name="">
            <a:extLst xmlns:a="http://schemas.openxmlformats.org/drawingml/2006/main">
              <a:ext uri="{FF2B5EF4-FFF2-40B4-BE49-F238E27FC236}">
                <a16:creationId xmlns:a16="http://schemas.microsoft.com/office/drawing/2014/main" id="{E27A95FF-6369-4DDF-A795-2E98C273BB9D}"/>
              </a:ext>
            </a:extLst>
          </p:cNvPr>
          <p:cNvSpPr>
            <a:spLocks xmlns:a="http://schemas.openxmlformats.org/drawingml/2006/main" noGrp="1"/>
          </p:cNvSpPr>
          <p:nvPr/>
        </p:nvSpPr>
        <p:spPr>
          <a:xfrm xmlns:a="http://schemas.openxmlformats.org/drawingml/2006/main">
            <a:off x="2571750" y="4572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806F65"/>
                </a:solidFill>
                <a:latin typeface="Aptos"/>
                <a:ea typeface="Aptos"/>
                <a:cs typeface="Aptos"/>
              </a:defRPr>
            </a:pPr>
            <a:r>
              <a:rPr sz="1275" b="0" i="0">
                <a:solidFill>
                  <a:srgbClr val="806F65"/>
                </a:solidFill>
                <a:latin typeface="Aptos"/>
                <a:ea typeface="Aptos"/>
                <a:cs typeface="Aptos"/>
              </a:rPr>
              <a:t>Find sacred sites with a visual, searchable catalogue.</a:t>
            </a:r>
          </a:p>
        </p:txBody>
      </p:sp>
      <p:sp>
        <p:nvSpPr>
          <p:cNvPr id="9" name="">
            <a:extLst xmlns:a="http://schemas.openxmlformats.org/drawingml/2006/main">
              <a:ext uri="{FF2B5EF4-FFF2-40B4-BE49-F238E27FC236}">
                <a16:creationId xmlns:a16="http://schemas.microsoft.com/office/drawing/2014/main" id="{DA7C3A3B-6F9D-4EF9-9525-7191DD312F8F}"/>
              </a:ext>
            </a:extLst>
          </p:cNvPr>
          <p:cNvSpPr>
            <a:spLocks xmlns:a="http://schemas.openxmlformats.org/drawingml/2006/main" noGrp="1"/>
          </p:cNvSpPr>
          <p:nvPr/>
        </p:nvSpPr>
        <p:spPr>
          <a:xfrm xmlns:a="http://schemas.openxmlformats.org/drawingml/2006/main">
            <a:off x="704850" y="51435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99E42"/>
                </a:solidFill>
                <a:latin typeface="Aptos"/>
                <a:ea typeface="Aptos"/>
                <a:cs typeface="Aptos"/>
              </a:defRPr>
            </a:pPr>
            <a:r>
              <a:rPr sz="1125" b="1" i="0">
                <a:solidFill>
                  <a:srgbClr val="C99E42"/>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95355249-A2AB-4EFD-9CE4-0F1D450738B5}"/>
              </a:ext>
            </a:extLst>
          </p:cNvPr>
          <p:cNvSpPr>
            <a:spLocks xmlns:a="http://schemas.openxmlformats.org/drawingml/2006/main" noGrp="1"/>
          </p:cNvSpPr>
          <p:nvPr/>
        </p:nvSpPr>
        <p:spPr>
          <a:xfrm xmlns:a="http://schemas.openxmlformats.org/drawingml/2006/main">
            <a:off x="1257300" y="5124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2B1D14"/>
                </a:solidFill>
                <a:latin typeface="Aptos"/>
                <a:ea typeface="Aptos"/>
                <a:cs typeface="Aptos"/>
              </a:defRPr>
            </a:pPr>
            <a:r>
              <a:rPr sz="1500" b="1" i="0">
                <a:solidFill>
                  <a:srgbClr val="2B1D14"/>
                </a:solidFill>
                <a:latin typeface="Aptos"/>
                <a:ea typeface="Aptos"/>
                <a:cs typeface="Aptos"/>
              </a:rPr>
              <a:t>Plan</a:t>
            </a:r>
          </a:p>
        </p:txBody>
      </p:sp>
      <p:sp>
        <p:nvSpPr>
          <p:cNvPr id="11" name="">
            <a:extLst xmlns:a="http://schemas.openxmlformats.org/drawingml/2006/main">
              <a:ext uri="{FF2B5EF4-FFF2-40B4-BE49-F238E27FC236}">
                <a16:creationId xmlns:a16="http://schemas.microsoft.com/office/drawing/2014/main" id="{B16F4816-4E59-430C-916A-A695C444255F}"/>
              </a:ext>
            </a:extLst>
          </p:cNvPr>
          <p:cNvSpPr>
            <a:spLocks xmlns:a="http://schemas.openxmlformats.org/drawingml/2006/main" noGrp="1"/>
          </p:cNvSpPr>
          <p:nvPr/>
        </p:nvSpPr>
        <p:spPr>
          <a:xfrm xmlns:a="http://schemas.openxmlformats.org/drawingml/2006/main">
            <a:off x="2571750" y="51435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806F65"/>
                </a:solidFill>
                <a:latin typeface="Aptos"/>
                <a:ea typeface="Aptos"/>
                <a:cs typeface="Aptos"/>
              </a:defRPr>
            </a:pPr>
            <a:r>
              <a:rPr sz="1275" b="0" i="0">
                <a:solidFill>
                  <a:srgbClr val="806F65"/>
                </a:solidFill>
                <a:latin typeface="Aptos"/>
                <a:ea typeface="Aptos"/>
                <a:cs typeface="Aptos"/>
              </a:rPr>
              <a:t>Turn saved places into a practical journey.</a:t>
            </a:r>
          </a:p>
        </p:txBody>
      </p:sp>
      <p:sp>
        <p:nvSpPr>
          <p:cNvPr id="12" name="">
            <a:extLst xmlns:a="http://schemas.openxmlformats.org/drawingml/2006/main">
              <a:ext uri="{FF2B5EF4-FFF2-40B4-BE49-F238E27FC236}">
                <a16:creationId xmlns:a16="http://schemas.microsoft.com/office/drawing/2014/main" id="{56E486B6-5CFC-4C67-9203-E5E62B58DBC5}"/>
              </a:ext>
            </a:extLst>
          </p:cNvPr>
          <p:cNvSpPr>
            <a:spLocks xmlns:a="http://schemas.openxmlformats.org/drawingml/2006/main" noGrp="1"/>
          </p:cNvSpPr>
          <p:nvPr/>
        </p:nvSpPr>
        <p:spPr>
          <a:xfrm xmlns:a="http://schemas.openxmlformats.org/drawingml/2006/main">
            <a:off x="704850" y="57150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99E42"/>
                </a:solidFill>
                <a:latin typeface="Aptos"/>
                <a:ea typeface="Aptos"/>
                <a:cs typeface="Aptos"/>
              </a:defRPr>
            </a:pPr>
            <a:r>
              <a:rPr sz="1125" b="1" i="0">
                <a:solidFill>
                  <a:srgbClr val="C99E42"/>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8DE7D411-588D-4D6E-BD3A-6B3B252E23BC}"/>
              </a:ext>
            </a:extLst>
          </p:cNvPr>
          <p:cNvSpPr>
            <a:spLocks xmlns:a="http://schemas.openxmlformats.org/drawingml/2006/main" noGrp="1"/>
          </p:cNvSpPr>
          <p:nvPr/>
        </p:nvSpPr>
        <p:spPr>
          <a:xfrm xmlns:a="http://schemas.openxmlformats.org/drawingml/2006/main">
            <a:off x="1257300" y="56959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2B1D14"/>
                </a:solidFill>
                <a:latin typeface="Aptos"/>
                <a:ea typeface="Aptos"/>
                <a:cs typeface="Aptos"/>
              </a:defRPr>
            </a:pPr>
            <a:r>
              <a:rPr sz="1500" b="1" i="0">
                <a:solidFill>
                  <a:srgbClr val="2B1D14"/>
                </a:solidFill>
                <a:latin typeface="Aptos"/>
                <a:ea typeface="Aptos"/>
                <a:cs typeface="Aptos"/>
              </a:rPr>
              <a:t>Experience</a:t>
            </a:r>
          </a:p>
        </p:txBody>
      </p:sp>
      <p:sp>
        <p:nvSpPr>
          <p:cNvPr id="14" name="">
            <a:extLst xmlns:a="http://schemas.openxmlformats.org/drawingml/2006/main">
              <a:ext uri="{FF2B5EF4-FFF2-40B4-BE49-F238E27FC236}">
                <a16:creationId xmlns:a16="http://schemas.microsoft.com/office/drawing/2014/main" id="{7EDAF18E-2084-43B8-8529-F67186FEB57A}"/>
              </a:ext>
            </a:extLst>
          </p:cNvPr>
          <p:cNvSpPr>
            <a:spLocks xmlns:a="http://schemas.openxmlformats.org/drawingml/2006/main" noGrp="1"/>
          </p:cNvSpPr>
          <p:nvPr/>
        </p:nvSpPr>
        <p:spPr>
          <a:xfrm xmlns:a="http://schemas.openxmlformats.org/drawingml/2006/main">
            <a:off x="2571750" y="5715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806F65"/>
                </a:solidFill>
                <a:latin typeface="Aptos"/>
                <a:ea typeface="Aptos"/>
                <a:cs typeface="Aptos"/>
              </a:defRPr>
            </a:pPr>
            <a:r>
              <a:rPr sz="1275" b="0" i="0">
                <a:solidFill>
                  <a:srgbClr val="806F65"/>
                </a:solidFill>
                <a:latin typeface="Aptos"/>
                <a:ea typeface="Aptos"/>
                <a:cs typeface="Aptos"/>
              </a:rPr>
              <a:t>Keep local context and traveller knowledge together.</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305f359880d34f06"/>
          <a:srcRect xmlns:a="http://schemas.openxmlformats.org/drawingml/2006/main" l="1395" t="0" r="1395" b="0"/>
          <a:stretch xmlns:a="http://schemas.openxmlformats.org/drawingml/2006/main">
            <a:fillRect l="0" t="0" r="0" b="0"/>
          </a:stretch>
        </p:blipFill>
        <p:spPr>
          <a:xfrm xmlns:a="http://schemas.openxmlformats.org/drawingml/2006/main">
            <a:off x="7429500" y="1047750"/>
            <a:ext cx="3143250" cy="4333875"/>
          </a:xfrm>
          <a:prstGeom xmlns:a="http://schemas.openxmlformats.org/drawingml/2006/main" prst="roundRect">
            <a:avLst>
              <a:gd name="adj" fmla="val 4848"/>
            </a:avLst>
          </a:prstGeom>
        </p:spPr>
      </p:pic>
      <p:sp>
        <p:nvSpPr>
          <p:cNvPr id="16" name="">
            <a:extLst xmlns:a="http://schemas.openxmlformats.org/drawingml/2006/main">
              <a:ext uri="{FF2B5EF4-FFF2-40B4-BE49-F238E27FC236}">
                <a16:creationId xmlns:a16="http://schemas.microsoft.com/office/drawing/2014/main" id="{8FC8D158-388C-4FA1-A874-BD684678772D}"/>
              </a:ext>
            </a:extLst>
          </p:cNvPr>
          <p:cNvSpPr>
            <a:spLocks xmlns:a="http://schemas.openxmlformats.org/drawingml/2006/main" noGrp="1"/>
          </p:cNvSpPr>
          <p:nvPr/>
        </p:nvSpPr>
        <p:spPr>
          <a:xfrm xmlns:a="http://schemas.openxmlformats.org/drawingml/2006/main">
            <a:off x="7219950" y="5562600"/>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2B1D14"/>
                </a:solidFill>
                <a:latin typeface="Georgia"/>
                <a:ea typeface="Georgia"/>
                <a:cs typeface="Georgia"/>
              </a:defRPr>
            </a:pPr>
            <a:r>
              <a:rPr sz="1800" b="1" i="0">
                <a:solidFill>
                  <a:srgbClr val="2B1D14"/>
                </a:solidFill>
                <a:latin typeface="Georgia"/>
                <a:ea typeface="Georgia"/>
                <a:cs typeface="Georgia"/>
              </a:rPr>
              <a:t>A travel companion</a:t>
            </a:r>
          </a:p>
          <a:p xmlns:a="http://schemas.openxmlformats.org/drawingml/2006/main">
            <a:pPr algn="ctr">
              <a:defRPr sz="1800" b="1" i="0">
                <a:solidFill>
                  <a:srgbClr val="2B1D14"/>
                </a:solidFill>
                <a:latin typeface="Georgia"/>
                <a:ea typeface="Georgia"/>
                <a:cs typeface="Georgia"/>
              </a:defRPr>
            </a:pPr>
            <a:r>
              <a:rPr sz="1800" b="1" i="0">
                <a:solidFill>
                  <a:srgbClr val="2B1D14"/>
                </a:solidFill>
                <a:latin typeface="Georgia"/>
                <a:ea typeface="Georgia"/>
                <a:cs typeface="Georgia"/>
              </a:rPr>
              <a:t>rooted in place</a:t>
            </a:r>
          </a:p>
        </p:txBody>
      </p:sp>
      <p:sp>
        <p:nvSpPr>
          <p:cNvPr id="17" name="">
            <a:extLst xmlns:a="http://schemas.openxmlformats.org/drawingml/2006/main">
              <a:ext uri="{FF2B5EF4-FFF2-40B4-BE49-F238E27FC236}">
                <a16:creationId xmlns:a16="http://schemas.microsoft.com/office/drawing/2014/main" id="{C1BAFC93-0300-4BC9-9410-9605EED70144}"/>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8" name="">
            <a:extLst xmlns:a="http://schemas.openxmlformats.org/drawingml/2006/main">
              <a:ext uri="{FF2B5EF4-FFF2-40B4-BE49-F238E27FC236}">
                <a16:creationId xmlns:a16="http://schemas.microsoft.com/office/drawing/2014/main" id="{AB5B9F46-36F6-4834-9C73-6444E1D2A0B3}"/>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1416106490"/>
      </p:ext>
    </p:extLst>
  </p:cSld>
</p:sld>
</file>

<file path=ppt/slides/slide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2B44FA-5E42-4C99-AB36-A49F11B417CB}"/>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B65331"/>
                </a:solidFill>
                <a:latin typeface="Aptos"/>
                <a:ea typeface="Aptos"/>
                <a:cs typeface="Aptos"/>
              </a:defRPr>
            </a:pPr>
            <a:r>
              <a:rPr sz="975" b="1" i="0">
                <a:solidFill>
                  <a:srgbClr val="B65331"/>
                </a:solidFill>
                <a:latin typeface="Aptos"/>
                <a:ea typeface="Aptos"/>
                <a:cs typeface="Aptos"/>
              </a:rPr>
              <a:t>WORKING RESULT • DISCOVERY</a:t>
            </a:r>
          </a:p>
        </p:txBody>
      </p:sp>
      <p:sp>
        <p:nvSpPr>
          <p:cNvPr id="2" name="">
            <a:extLst xmlns:a="http://schemas.openxmlformats.org/drawingml/2006/main">
              <a:ext uri="{FF2B5EF4-FFF2-40B4-BE49-F238E27FC236}">
                <a16:creationId xmlns:a16="http://schemas.microsoft.com/office/drawing/2014/main" id="{E46BADB9-6E56-41BC-A2A7-BD1EDFCFEFA3}"/>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806F65"/>
                </a:solidFill>
                <a:latin typeface="Aptos"/>
                <a:ea typeface="Aptos"/>
                <a:cs typeface="Aptos"/>
              </a:defRPr>
            </a:pPr>
            <a:r>
              <a:rPr sz="975" b="1" i="0">
                <a:solidFill>
                  <a:srgbClr val="806F65"/>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B18EE330-142E-4327-9698-1FA56FD96909}"/>
              </a:ext>
            </a:extLst>
          </p:cNvPr>
          <p:cNvSpPr>
            <a:spLocks xmlns:a="http://schemas.openxmlformats.org/drawingml/2006/main" noGrp="1"/>
          </p:cNvSpPr>
          <p:nvPr/>
        </p:nvSpPr>
        <p:spPr>
          <a:xfrm xmlns:a="http://schemas.openxmlformats.org/drawingml/2006/main">
            <a:off x="685800" y="971550"/>
            <a:ext cx="5429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i="0">
                <a:solidFill>
                  <a:srgbClr val="2B1D14"/>
                </a:solidFill>
                <a:latin typeface="Georgia"/>
                <a:ea typeface="Georgia"/>
                <a:cs typeface="Georgia"/>
              </a:defRPr>
            </a:pPr>
            <a:r>
              <a:rPr sz="3450" b="1" i="0">
                <a:solidFill>
                  <a:srgbClr val="2B1D14"/>
                </a:solidFill>
                <a:latin typeface="Georgia"/>
                <a:ea typeface="Georgia"/>
                <a:cs typeface="Georgia"/>
              </a:rPr>
              <a:t>Start with atmosphere.</a:t>
            </a:r>
          </a:p>
          <a:p xmlns:a="http://schemas.openxmlformats.org/drawingml/2006/main">
            <a:pPr algn="l">
              <a:defRPr sz="3450" b="1" i="0">
                <a:solidFill>
                  <a:srgbClr val="2B1D14"/>
                </a:solidFill>
                <a:latin typeface="Georgia"/>
                <a:ea typeface="Georgia"/>
                <a:cs typeface="Georgia"/>
              </a:defRPr>
            </a:pPr>
            <a:r>
              <a:rPr sz="3450" b="1" i="0">
                <a:solidFill>
                  <a:srgbClr val="2B1D14"/>
                </a:solidFill>
                <a:latin typeface="Georgia"/>
                <a:ea typeface="Georgia"/>
                <a:cs typeface="Georgia"/>
              </a:rPr>
              <a:t>Continue with detail.</a:t>
            </a:r>
          </a:p>
        </p:txBody>
      </p:sp>
      <p:sp>
        <p:nvSpPr>
          <p:cNvPr id="4" name="">
            <a:extLst xmlns:a="http://schemas.openxmlformats.org/drawingml/2006/main">
              <a:ext uri="{FF2B5EF4-FFF2-40B4-BE49-F238E27FC236}">
                <a16:creationId xmlns:a16="http://schemas.microsoft.com/office/drawing/2014/main" id="{1CAF62DC-F3F9-4A77-97EB-D46877E6C623}"/>
              </a:ext>
            </a:extLst>
          </p:cNvPr>
          <p:cNvSpPr>
            <a:spLocks xmlns:a="http://schemas.openxmlformats.org/drawingml/2006/main" noGrp="1"/>
          </p:cNvSpPr>
          <p:nvPr/>
        </p:nvSpPr>
        <p:spPr>
          <a:xfrm xmlns:a="http://schemas.openxmlformats.org/drawingml/2006/main">
            <a:off x="685800" y="2400300"/>
            <a:ext cx="5143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806F65"/>
                </a:solidFill>
                <a:latin typeface="Aptos"/>
                <a:ea typeface="Aptos"/>
                <a:cs typeface="Aptos"/>
              </a:defRPr>
            </a:pPr>
            <a:r>
              <a:rPr sz="1725" b="0" i="0">
                <a:solidFill>
                  <a:srgbClr val="806F65"/>
                </a:solidFill>
                <a:latin typeface="Aptos"/>
                <a:ea typeface="Aptos"/>
                <a:cs typeface="Aptos"/>
              </a:rPr>
              <a:t>The home screen presents Bagan as a visual journal; the pagoda catalogue makes the next site easy to find and save.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d95a5fd1d8644f1"/>
          <a:stretch xmlns:a="http://schemas.openxmlformats.org/drawingml/2006/main"/>
        </p:blipFill>
        <p:spPr>
          <a:xfrm xmlns:a="http://schemas.openxmlformats.org/drawingml/2006/main">
            <a:off x="6572250" y="922338"/>
            <a:ext cx="2076450" cy="4498975"/>
          </a:xfrm>
          <a:prstGeom xmlns:a="http://schemas.openxmlformats.org/drawingml/2006/main" prst="roundRect">
            <a:avLst>
              <a:gd name="adj" fmla="val 7339"/>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e5a14bef1af4334"/>
          <a:stretch xmlns:a="http://schemas.openxmlformats.org/drawingml/2006/main"/>
        </p:blipFill>
        <p:spPr>
          <a:xfrm xmlns:a="http://schemas.openxmlformats.org/drawingml/2006/main">
            <a:off x="9048750" y="922338"/>
            <a:ext cx="2076450" cy="4498975"/>
          </a:xfrm>
          <a:prstGeom xmlns:a="http://schemas.openxmlformats.org/drawingml/2006/main" prst="roundRect">
            <a:avLst>
              <a:gd name="adj" fmla="val 7339"/>
            </a:avLst>
          </a:prstGeom>
        </p:spPr>
      </p:pic>
      <p:sp>
        <p:nvSpPr>
          <p:cNvPr id="7" name="">
            <a:extLst xmlns:a="http://schemas.openxmlformats.org/drawingml/2006/main">
              <a:ext uri="{FF2B5EF4-FFF2-40B4-BE49-F238E27FC236}">
                <a16:creationId xmlns:a16="http://schemas.microsoft.com/office/drawing/2014/main" id="{41A73E69-ED34-471F-9CE5-5CA7651508BF}"/>
              </a:ext>
            </a:extLst>
          </p:cNvPr>
          <p:cNvSpPr>
            <a:spLocks xmlns:a="http://schemas.openxmlformats.org/drawingml/2006/main" noGrp="1"/>
          </p:cNvSpPr>
          <p:nvPr/>
        </p:nvSpPr>
        <p:spPr>
          <a:xfrm xmlns:a="http://schemas.openxmlformats.org/drawingml/2006/main">
            <a:off x="6858000" y="58293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i="0">
                <a:solidFill>
                  <a:srgbClr val="B65331"/>
                </a:solidFill>
                <a:latin typeface="Aptos"/>
                <a:ea typeface="Aptos"/>
                <a:cs typeface="Aptos"/>
              </a:defRPr>
            </a:pPr>
            <a:r>
              <a:rPr sz="900" b="1" i="0">
                <a:solidFill>
                  <a:srgbClr val="B65331"/>
                </a:solidFill>
                <a:latin typeface="Aptos"/>
                <a:ea typeface="Aptos"/>
                <a:cs typeface="Aptos"/>
              </a:rPr>
              <a:t>HOME</a:t>
            </a:r>
          </a:p>
        </p:txBody>
      </p:sp>
      <p:sp>
        <p:nvSpPr>
          <p:cNvPr id="8" name="">
            <a:extLst xmlns:a="http://schemas.openxmlformats.org/drawingml/2006/main">
              <a:ext uri="{FF2B5EF4-FFF2-40B4-BE49-F238E27FC236}">
                <a16:creationId xmlns:a16="http://schemas.microsoft.com/office/drawing/2014/main" id="{FF436D20-430B-4C7E-8907-117D9CA67209}"/>
              </a:ext>
            </a:extLst>
          </p:cNvPr>
          <p:cNvSpPr>
            <a:spLocks xmlns:a="http://schemas.openxmlformats.org/drawingml/2006/main" noGrp="1"/>
          </p:cNvSpPr>
          <p:nvPr/>
        </p:nvSpPr>
        <p:spPr>
          <a:xfrm xmlns:a="http://schemas.openxmlformats.org/drawingml/2006/main">
            <a:off x="9048750" y="58293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i="0">
                <a:solidFill>
                  <a:srgbClr val="B65331"/>
                </a:solidFill>
                <a:latin typeface="Aptos"/>
                <a:ea typeface="Aptos"/>
                <a:cs typeface="Aptos"/>
              </a:defRPr>
            </a:pPr>
            <a:r>
              <a:rPr sz="900" b="1" i="0">
                <a:solidFill>
                  <a:srgbClr val="B65331"/>
                </a:solidFill>
                <a:latin typeface="Aptos"/>
                <a:ea typeface="Aptos"/>
                <a:cs typeface="Aptos"/>
              </a:rPr>
              <a:t>PAGODA CATALOGUE</a:t>
            </a:r>
          </a:p>
        </p:txBody>
      </p:sp>
      <p:sp>
        <p:nvSpPr>
          <p:cNvPr id="9" name="">
            <a:extLst xmlns:a="http://schemas.openxmlformats.org/drawingml/2006/main">
              <a:ext uri="{FF2B5EF4-FFF2-40B4-BE49-F238E27FC236}">
                <a16:creationId xmlns:a16="http://schemas.microsoft.com/office/drawing/2014/main" id="{CFCFD2A4-039C-4CE5-9145-05FF287768EE}"/>
              </a:ext>
            </a:extLst>
          </p:cNvPr>
          <p:cNvSpPr>
            <a:spLocks xmlns:a="http://schemas.openxmlformats.org/drawingml/2006/main" noGrp="1"/>
          </p:cNvSpPr>
          <p:nvPr/>
        </p:nvSpPr>
        <p:spPr>
          <a:xfrm xmlns:a="http://schemas.openxmlformats.org/drawingml/2006/main">
            <a:off x="685800" y="476250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3A2215"/>
                </a:solidFill>
                <a:latin typeface="Georgia"/>
                <a:ea typeface="Georgia"/>
                <a:cs typeface="Georgia"/>
              </a:defRPr>
            </a:pPr>
            <a:r>
              <a:rPr sz="1950" b="1" i="0">
                <a:solidFill>
                  <a:srgbClr val="3A2215"/>
                </a:solidFill>
                <a:latin typeface="Georgia"/>
                <a:ea typeface="Georgia"/>
                <a:cs typeface="Georgia"/>
              </a:rPr>
              <a:t>Visual cards make heritage feel inviting—not like a database.</a:t>
            </a:r>
          </a:p>
        </p:txBody>
      </p:sp>
      <p:sp>
        <p:nvSpPr>
          <p:cNvPr id="10" name="">
            <a:extLst xmlns:a="http://schemas.openxmlformats.org/drawingml/2006/main">
              <a:ext uri="{FF2B5EF4-FFF2-40B4-BE49-F238E27FC236}">
                <a16:creationId xmlns:a16="http://schemas.microsoft.com/office/drawing/2014/main" id="{3F33F252-69A7-4E30-9C3D-7A2CC149C31C}"/>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1" name="">
            <a:extLst xmlns:a="http://schemas.openxmlformats.org/drawingml/2006/main">
              <a:ext uri="{FF2B5EF4-FFF2-40B4-BE49-F238E27FC236}">
                <a16:creationId xmlns:a16="http://schemas.microsoft.com/office/drawing/2014/main" id="{081AE688-6170-4240-93FA-159F95B2DCCC}"/>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39521803"/>
      </p:ext>
    </p:extLst>
  </p:cSld>
</p:sld>
</file>

<file path=ppt/slides/slide4.xml><?xml version="1.0" encoding="utf-8"?>
<p:sld xmlns:p="http://schemas.openxmlformats.org/presentationml/2006/main">
  <p:cSld>
    <p:bg>
      <p:bgPr>
        <a:solidFill xmlns:a="http://schemas.openxmlformats.org/drawingml/2006/main">
          <a:srgbClr val="3A221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fea21a14acc42f9"/>
          <a:stretch xmlns:a="http://schemas.openxmlformats.org/drawingml/2006/main"/>
        </p:blipFill>
        <p:spPr>
          <a:xfrm xmlns:a="http://schemas.openxmlformats.org/drawingml/2006/main">
            <a:off x="7228742" y="323850"/>
            <a:ext cx="2725615" cy="5905500"/>
          </a:xfrm>
          <a:prstGeom xmlns:a="http://schemas.openxmlformats.org/drawingml/2006/main" prst="roundRect">
            <a:avLst>
              <a:gd name="adj" fmla="val 4819"/>
            </a:avLst>
          </a:prstGeom>
        </p:spPr>
      </p:pic>
      <p:sp>
        <p:nvSpPr>
          <p:cNvPr id="2" name="">
            <a:extLst xmlns:a="http://schemas.openxmlformats.org/drawingml/2006/main">
              <a:ext uri="{FF2B5EF4-FFF2-40B4-BE49-F238E27FC236}">
                <a16:creationId xmlns:a16="http://schemas.microsoft.com/office/drawing/2014/main" id="{5B34EB63-084C-469E-B590-8DC382AA8DBF}"/>
              </a:ext>
            </a:extLst>
          </p:cNvPr>
          <p:cNvSpPr>
            <a:spLocks xmlns:a="http://schemas.openxmlformats.org/drawingml/2006/main" noGrp="1"/>
          </p:cNvSpPr>
          <p:nvPr/>
        </p:nvSpPr>
        <p:spPr>
          <a:xfrm xmlns:a="http://schemas.openxmlformats.org/drawingml/2006/main">
            <a:off x="685800" y="990600"/>
            <a:ext cx="523875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i="0">
                <a:solidFill>
                  <a:srgbClr val="FFFFFF"/>
                </a:solidFill>
                <a:latin typeface="Georgia"/>
                <a:ea typeface="Georgia"/>
                <a:cs typeface="Georgia"/>
              </a:defRPr>
            </a:pPr>
            <a:r>
              <a:rPr sz="3900" b="1" i="0">
                <a:solidFill>
                  <a:srgbClr val="FFFFFF"/>
                </a:solidFill>
                <a:latin typeface="Georgia"/>
                <a:ea typeface="Georgia"/>
                <a:cs typeface="Georgia"/>
              </a:rPr>
              <a:t>A map that</a:t>
            </a:r>
          </a:p>
          <a:p xmlns:a="http://schemas.openxmlformats.org/drawingml/2006/main">
            <a:pPr algn="l">
              <a:defRPr sz="3900" b="1" i="0">
                <a:solidFill>
                  <a:srgbClr val="FFFFFF"/>
                </a:solidFill>
                <a:latin typeface="Georgia"/>
                <a:ea typeface="Georgia"/>
                <a:cs typeface="Georgia"/>
              </a:defRPr>
            </a:pPr>
            <a:r>
              <a:rPr sz="3900" b="1" i="0">
                <a:solidFill>
                  <a:srgbClr val="FFFFFF"/>
                </a:solidFill>
                <a:latin typeface="Georgia"/>
                <a:ea typeface="Georgia"/>
                <a:cs typeface="Georgia"/>
              </a:rPr>
              <a:t>turns intent</a:t>
            </a:r>
          </a:p>
          <a:p xmlns:a="http://schemas.openxmlformats.org/drawingml/2006/main">
            <a:pPr algn="l">
              <a:defRPr sz="3900" b="1" i="0">
                <a:solidFill>
                  <a:srgbClr val="FFFFFF"/>
                </a:solidFill>
                <a:latin typeface="Georgia"/>
                <a:ea typeface="Georgia"/>
                <a:cs typeface="Georgia"/>
              </a:defRPr>
            </a:pPr>
            <a:r>
              <a:rPr sz="3900" b="1" i="0">
                <a:solidFill>
                  <a:srgbClr val="FFFFFF"/>
                </a:solidFill>
                <a:latin typeface="Georgia"/>
                <a:ea typeface="Georgia"/>
                <a:cs typeface="Georgia"/>
              </a:rPr>
              <a:t>into a journey.</a:t>
            </a:r>
          </a:p>
        </p:txBody>
      </p:sp>
      <p:sp>
        <p:nvSpPr>
          <p:cNvPr id="3" name="">
            <a:extLst xmlns:a="http://schemas.openxmlformats.org/drawingml/2006/main">
              <a:ext uri="{FF2B5EF4-FFF2-40B4-BE49-F238E27FC236}">
                <a16:creationId xmlns:a16="http://schemas.microsoft.com/office/drawing/2014/main" id="{EE69FEBF-0BA8-4834-9D3C-4516D307DB26}"/>
              </a:ext>
            </a:extLst>
          </p:cNvPr>
          <p:cNvSpPr>
            <a:spLocks xmlns:a="http://schemas.openxmlformats.org/drawingml/2006/main" noGrp="1"/>
          </p:cNvSpPr>
          <p:nvPr/>
        </p:nvSpPr>
        <p:spPr>
          <a:xfrm xmlns:a="http://schemas.openxmlformats.org/drawingml/2006/main">
            <a:off x="723900" y="342900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E9D9C8"/>
                </a:solidFill>
                <a:latin typeface="Aptos"/>
                <a:ea typeface="Aptos"/>
                <a:cs typeface="Aptos"/>
              </a:defRPr>
            </a:pPr>
            <a:r>
              <a:rPr sz="1800" b="0" i="0">
                <a:solidFill>
                  <a:srgbClr val="E9D9C8"/>
                </a:solidFill>
                <a:latin typeface="Aptos"/>
                <a:ea typeface="Aptos"/>
                <a:cs typeface="Aptos"/>
              </a:rPr>
              <a:t>Browse sites, compare routes, and plan a trip directly inside the app.</a:t>
            </a:r>
          </a:p>
        </p:txBody>
      </p:sp>
      <p:sp>
        <p:nvSpPr>
          <p:cNvPr id="4" name="">
            <a:extLst xmlns:a="http://schemas.openxmlformats.org/drawingml/2006/main">
              <a:ext uri="{FF2B5EF4-FFF2-40B4-BE49-F238E27FC236}">
                <a16:creationId xmlns:a16="http://schemas.microsoft.com/office/drawing/2014/main" id="{23EA5CA6-42B1-4A96-9435-8354591C87CD}"/>
              </a:ext>
            </a:extLst>
          </p:cNvPr>
          <p:cNvSpPr>
            <a:spLocks xmlns:a="http://schemas.openxmlformats.org/drawingml/2006/main" noGrp="1"/>
          </p:cNvSpPr>
          <p:nvPr/>
        </p:nvSpPr>
        <p:spPr>
          <a:xfrm xmlns:a="http://schemas.openxmlformats.org/drawingml/2006/main">
            <a:off x="723900" y="4591050"/>
            <a:ext cx="4667250" cy="0"/>
          </a:xfrm>
          <a:prstGeom xmlns:a="http://schemas.openxmlformats.org/drawingml/2006/main" prst="line">
            <a:avLst/>
          </a:prstGeom>
          <a:noFill xmlns:a="http://schemas.openxmlformats.org/drawingml/2006/main"/>
          <a:ln xmlns:a="http://schemas.openxmlformats.org/drawingml/2006/main" w="13335">
            <a:solidFill>
              <a:srgbClr val="C99E42"/>
            </a:solidFill>
            <a:prstDash val="solid"/>
          </a:ln>
        </p:spPr>
      </p:sp>
      <p:sp>
        <p:nvSpPr>
          <p:cNvPr id="5" name="">
            <a:extLst xmlns:a="http://schemas.openxmlformats.org/drawingml/2006/main">
              <a:ext uri="{FF2B5EF4-FFF2-40B4-BE49-F238E27FC236}">
                <a16:creationId xmlns:a16="http://schemas.microsoft.com/office/drawing/2014/main" id="{99D3CBEB-AB3B-4D08-B5A5-5841A96BFA6D}"/>
              </a:ext>
            </a:extLst>
          </p:cNvPr>
          <p:cNvSpPr>
            <a:spLocks xmlns:a="http://schemas.openxmlformats.org/drawingml/2006/main" noGrp="1"/>
          </p:cNvSpPr>
          <p:nvPr/>
        </p:nvSpPr>
        <p:spPr>
          <a:xfrm xmlns:a="http://schemas.openxmlformats.org/drawingml/2006/main">
            <a:off x="723900" y="4857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C99E42"/>
                </a:solidFill>
                <a:latin typeface="Aptos"/>
                <a:ea typeface="Aptos"/>
                <a:cs typeface="Aptos"/>
              </a:defRPr>
            </a:pPr>
            <a:r>
              <a:rPr sz="975" b="1" i="0">
                <a:solidFill>
                  <a:srgbClr val="C99E42"/>
                </a:solidFill>
                <a:latin typeface="Aptos"/>
                <a:ea typeface="Aptos"/>
                <a:cs typeface="Aptos"/>
              </a:rPr>
              <a:t>MAP RELIABILITY</a:t>
            </a:r>
          </a:p>
        </p:txBody>
      </p:sp>
      <p:sp>
        <p:nvSpPr>
          <p:cNvPr id="6" name="">
            <a:extLst xmlns:a="http://schemas.openxmlformats.org/drawingml/2006/main">
              <a:ext uri="{FF2B5EF4-FFF2-40B4-BE49-F238E27FC236}">
                <a16:creationId xmlns:a16="http://schemas.microsoft.com/office/drawing/2014/main" id="{43618B9D-A457-4054-B9C2-0B767D368CA4}"/>
              </a:ext>
            </a:extLst>
          </p:cNvPr>
          <p:cNvSpPr>
            <a:spLocks xmlns:a="http://schemas.openxmlformats.org/drawingml/2006/main" noGrp="1"/>
          </p:cNvSpPr>
          <p:nvPr/>
        </p:nvSpPr>
        <p:spPr>
          <a:xfrm xmlns:a="http://schemas.openxmlformats.org/drawingml/2006/main">
            <a:off x="723900" y="521970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F7EBDD"/>
                </a:solidFill>
                <a:latin typeface="Aptos"/>
                <a:ea typeface="Aptos"/>
                <a:cs typeface="Aptos"/>
              </a:defRPr>
            </a:pPr>
            <a:r>
              <a:rPr sz="1350" b="0" i="0">
                <a:solidFill>
                  <a:srgbClr val="F7EBDD"/>
                </a:solidFill>
                <a:latin typeface="Aptos"/>
                <a:ea typeface="Aptos"/>
                <a:cs typeface="Aptos"/>
              </a:rPr>
              <a:t>The Android build now uses a primary tile source with automatic OpenStreetMap fallback—so a traveller is not dependent on one map server.</a:t>
            </a:r>
          </a:p>
        </p:txBody>
      </p:sp>
      <p:sp>
        <p:nvSpPr>
          <p:cNvPr id="7" name="">
            <a:extLst xmlns:a="http://schemas.openxmlformats.org/drawingml/2006/main">
              <a:ext uri="{FF2B5EF4-FFF2-40B4-BE49-F238E27FC236}">
                <a16:creationId xmlns:a16="http://schemas.microsoft.com/office/drawing/2014/main" id="{5A2830C1-AD07-4913-B649-C573C705A0A6}"/>
              </a:ext>
            </a:extLst>
          </p:cNvPr>
          <p:cNvSpPr>
            <a:spLocks xmlns:a="http://schemas.openxmlformats.org/drawingml/2006/main" noGrp="1"/>
          </p:cNvSpPr>
          <p:nvPr/>
        </p:nvSpPr>
        <p:spPr>
          <a:xfrm xmlns:a="http://schemas.openxmlformats.org/drawingml/2006/main">
            <a:off x="723900" y="64008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C99E42"/>
                </a:solidFill>
                <a:latin typeface="Aptos"/>
                <a:ea typeface="Aptos"/>
                <a:cs typeface="Aptos"/>
              </a:defRPr>
            </a:pPr>
            <a:r>
              <a:rPr sz="825" b="1" i="0">
                <a:solidFill>
                  <a:srgbClr val="C99E42"/>
                </a:solidFill>
                <a:latin typeface="Aptos"/>
                <a:ea typeface="Aptos"/>
                <a:cs typeface="Aptos"/>
              </a:rPr>
              <a:t>WORKING ON A PHYSICAL ANDROID DEVICE</a:t>
            </a:r>
          </a:p>
        </p:txBody>
      </p:sp>
    </p:spTree>
    <p:extLst>
      <p:ext uri="{BB962C8B-B14F-4D97-AF65-F5344CB8AC3E}">
        <p14:creationId xmlns:p14="http://schemas.microsoft.com/office/powerpoint/2010/main" val="116379553"/>
      </p:ext>
    </p:extLst>
  </p:cSld>
</p:sld>
</file>

<file path=ppt/slides/slide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2F8FB5-8E9B-4424-80AA-EA229B23CFA8}"/>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B65331"/>
                </a:solidFill>
                <a:latin typeface="Aptos"/>
                <a:ea typeface="Aptos"/>
                <a:cs typeface="Aptos"/>
              </a:defRPr>
            </a:pPr>
            <a:r>
              <a:rPr sz="975" b="1" i="0">
                <a:solidFill>
                  <a:srgbClr val="B65331"/>
                </a:solidFill>
                <a:latin typeface="Aptos"/>
                <a:ea typeface="Aptos"/>
                <a:cs typeface="Aptos"/>
              </a:rPr>
              <a:t>WORKING RESULT • PERSONAL JOURNEY</a:t>
            </a:r>
          </a:p>
        </p:txBody>
      </p:sp>
      <p:sp>
        <p:nvSpPr>
          <p:cNvPr id="2" name="">
            <a:extLst xmlns:a="http://schemas.openxmlformats.org/drawingml/2006/main">
              <a:ext uri="{FF2B5EF4-FFF2-40B4-BE49-F238E27FC236}">
                <a16:creationId xmlns:a16="http://schemas.microsoft.com/office/drawing/2014/main" id="{BE73FFE1-AE6E-4A4F-B5FC-EB44E97208D4}"/>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806F65"/>
                </a:solidFill>
                <a:latin typeface="Aptos"/>
                <a:ea typeface="Aptos"/>
                <a:cs typeface="Aptos"/>
              </a:defRPr>
            </a:pPr>
            <a:r>
              <a:rPr sz="975" b="1" i="0">
                <a:solidFill>
                  <a:srgbClr val="806F65"/>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D0B5C8EA-C46F-4F7C-A71C-028E402BE3EC}"/>
              </a:ext>
            </a:extLst>
          </p:cNvPr>
          <p:cNvSpPr>
            <a:spLocks xmlns:a="http://schemas.openxmlformats.org/drawingml/2006/main" noGrp="1"/>
          </p:cNvSpPr>
          <p:nvPr/>
        </p:nvSpPr>
        <p:spPr>
          <a:xfrm xmlns:a="http://schemas.openxmlformats.org/drawingml/2006/main">
            <a:off x="685800" y="971550"/>
            <a:ext cx="5334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i="0">
                <a:solidFill>
                  <a:srgbClr val="2B1D14"/>
                </a:solidFill>
                <a:latin typeface="Georgia"/>
                <a:ea typeface="Georgia"/>
                <a:cs typeface="Georgia"/>
              </a:defRPr>
            </a:pPr>
            <a:r>
              <a:rPr sz="3450" b="1" i="0">
                <a:solidFill>
                  <a:srgbClr val="2B1D14"/>
                </a:solidFill>
                <a:latin typeface="Georgia"/>
                <a:ea typeface="Georgia"/>
                <a:cs typeface="Georgia"/>
              </a:rPr>
              <a:t>The visit becomes</a:t>
            </a:r>
          </a:p>
          <a:p xmlns:a="http://schemas.openxmlformats.org/drawingml/2006/main">
            <a:pPr algn="l">
              <a:defRPr sz="3450" b="1" i="0">
                <a:solidFill>
                  <a:srgbClr val="2B1D14"/>
                </a:solidFill>
                <a:latin typeface="Georgia"/>
                <a:ea typeface="Georgia"/>
                <a:cs typeface="Georgia"/>
              </a:defRPr>
            </a:pPr>
            <a:r>
              <a:rPr sz="3450" b="1" i="0">
                <a:solidFill>
                  <a:srgbClr val="2B1D14"/>
                </a:solidFill>
                <a:latin typeface="Georgia"/>
                <a:ea typeface="Georgia"/>
                <a:cs typeface="Georgia"/>
              </a:rPr>
              <a:t>a personal journal.</a:t>
            </a:r>
          </a:p>
        </p:txBody>
      </p:sp>
      <p:sp>
        <p:nvSpPr>
          <p:cNvPr id="4" name="">
            <a:extLst xmlns:a="http://schemas.openxmlformats.org/drawingml/2006/main">
              <a:ext uri="{FF2B5EF4-FFF2-40B4-BE49-F238E27FC236}">
                <a16:creationId xmlns:a16="http://schemas.microsoft.com/office/drawing/2014/main" id="{B2D21D58-808E-4D2D-8B08-E56FB08FEBB3}"/>
              </a:ext>
            </a:extLst>
          </p:cNvPr>
          <p:cNvSpPr>
            <a:spLocks xmlns:a="http://schemas.openxmlformats.org/drawingml/2006/main" noGrp="1"/>
          </p:cNvSpPr>
          <p:nvPr/>
        </p:nvSpPr>
        <p:spPr>
          <a:xfrm xmlns:a="http://schemas.openxmlformats.org/drawingml/2006/main">
            <a:off x="685800" y="2428875"/>
            <a:ext cx="51911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806F65"/>
                </a:solidFill>
                <a:latin typeface="Aptos"/>
                <a:ea typeface="Aptos"/>
                <a:cs typeface="Aptos"/>
              </a:defRPr>
            </a:pPr>
            <a:r>
              <a:rPr sz="1725" b="0" i="0">
                <a:solidFill>
                  <a:srgbClr val="806F65"/>
                </a:solidFill>
                <a:latin typeface="Aptos"/>
                <a:ea typeface="Aptos"/>
                <a:cs typeface="Aptos"/>
              </a:rPr>
              <a:t>Saved pagodas, planned journeys, profile preferences, and community posts keep the experience useful before, during, and after the trip.</a:t>
            </a:r>
          </a:p>
        </p:txBody>
      </p:sp>
      <p:sp>
        <p:nvSpPr>
          <p:cNvPr id="5" name="">
            <a:extLst xmlns:a="http://schemas.openxmlformats.org/drawingml/2006/main">
              <a:ext uri="{FF2B5EF4-FFF2-40B4-BE49-F238E27FC236}">
                <a16:creationId xmlns:a16="http://schemas.microsoft.com/office/drawing/2014/main" id="{725475C6-942F-4F59-908C-599268AC3451}"/>
              </a:ext>
            </a:extLst>
          </p:cNvPr>
          <p:cNvSpPr>
            <a:spLocks xmlns:a="http://schemas.openxmlformats.org/drawingml/2006/main" noGrp="1"/>
          </p:cNvSpPr>
          <p:nvPr/>
        </p:nvSpPr>
        <p:spPr>
          <a:xfrm xmlns:a="http://schemas.openxmlformats.org/drawingml/2006/main">
            <a:off x="685800" y="3933825"/>
            <a:ext cx="51435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6" name="">
            <a:extLst xmlns:a="http://schemas.openxmlformats.org/drawingml/2006/main">
              <a:ext uri="{FF2B5EF4-FFF2-40B4-BE49-F238E27FC236}">
                <a16:creationId xmlns:a16="http://schemas.microsoft.com/office/drawing/2014/main" id="{AF3572E4-ECC8-443B-A781-C8D919B7C291}"/>
              </a:ext>
            </a:extLst>
          </p:cNvPr>
          <p:cNvSpPr>
            <a:spLocks xmlns:a="http://schemas.openxmlformats.org/drawingml/2006/main" noGrp="1"/>
          </p:cNvSpPr>
          <p:nvPr/>
        </p:nvSpPr>
        <p:spPr>
          <a:xfrm xmlns:a="http://schemas.openxmlformats.org/drawingml/2006/main">
            <a:off x="685800" y="4305300"/>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2B1D14"/>
                </a:solidFill>
                <a:latin typeface="Georgia"/>
                <a:ea typeface="Georgia"/>
                <a:cs typeface="Georgia"/>
              </a:defRPr>
            </a:pPr>
            <a:r>
              <a:rPr sz="2100" b="1" i="0">
                <a:solidFill>
                  <a:srgbClr val="2B1D14"/>
                </a:solidFill>
                <a:latin typeface="Georgia"/>
                <a:ea typeface="Georgia"/>
                <a:cs typeface="Georgia"/>
              </a:rPr>
              <a:t>Built for the visitor journey—not just the visit.</a:t>
            </a:r>
          </a:p>
        </p:txBody>
      </p:sp>
      <p:sp>
        <p:nvSpPr>
          <p:cNvPr id="7" name="">
            <a:extLst xmlns:a="http://schemas.openxmlformats.org/drawingml/2006/main">
              <a:ext uri="{FF2B5EF4-FFF2-40B4-BE49-F238E27FC236}">
                <a16:creationId xmlns:a16="http://schemas.microsoft.com/office/drawing/2014/main" id="{4C3002A1-BCB2-497C-BB7C-887D406E7931}"/>
              </a:ext>
            </a:extLst>
          </p:cNvPr>
          <p:cNvSpPr>
            <a:spLocks xmlns:a="http://schemas.openxmlformats.org/drawingml/2006/main" noGrp="1"/>
          </p:cNvSpPr>
          <p:nvPr/>
        </p:nvSpPr>
        <p:spPr>
          <a:xfrm xmlns:a="http://schemas.openxmlformats.org/drawingml/2006/main">
            <a:off x="704850" y="5219700"/>
            <a:ext cx="5000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2B1D14"/>
                </a:solidFill>
                <a:latin typeface="Aptos"/>
                <a:ea typeface="Aptos"/>
                <a:cs typeface="Aptos"/>
              </a:defRPr>
            </a:pPr>
            <a:r>
              <a:rPr sz="1425" b="0" i="0">
                <a:solidFill>
                  <a:srgbClr val="2B1D14"/>
                </a:solidFill>
                <a:latin typeface="Aptos"/>
                <a:ea typeface="Aptos"/>
                <a:cs typeface="Aptos"/>
              </a:rPr>
              <a:t>• Save meaningful places</a:t>
            </a:r>
          </a:p>
          <a:p xmlns:a="http://schemas.openxmlformats.org/drawingml/2006/main">
            <a:pPr algn="l">
              <a:defRPr sz="1425" b="0" i="0">
                <a:solidFill>
                  <a:srgbClr val="2B1D14"/>
                </a:solidFill>
                <a:latin typeface="Aptos"/>
                <a:ea typeface="Aptos"/>
                <a:cs typeface="Aptos"/>
              </a:defRPr>
            </a:pPr>
            <a:r>
              <a:rPr sz="1425" b="0" i="0">
                <a:solidFill>
                  <a:srgbClr val="2B1D14"/>
                </a:solidFill>
                <a:latin typeface="Aptos"/>
                <a:ea typeface="Aptos"/>
                <a:cs typeface="Aptos"/>
              </a:rPr>
              <a:t>• Shape a route around time and travel mode</a:t>
            </a:r>
          </a:p>
          <a:p xmlns:a="http://schemas.openxmlformats.org/drawingml/2006/main">
            <a:pPr algn="l">
              <a:defRPr sz="1425" b="0" i="0">
                <a:solidFill>
                  <a:srgbClr val="2B1D14"/>
                </a:solidFill>
                <a:latin typeface="Aptos"/>
                <a:ea typeface="Aptos"/>
                <a:cs typeface="Aptos"/>
              </a:defRPr>
            </a:pPr>
            <a:r>
              <a:rPr sz="1425" b="0" i="0">
                <a:solidFill>
                  <a:srgbClr val="2B1D14"/>
                </a:solidFill>
                <a:latin typeface="Aptos"/>
                <a:ea typeface="Aptos"/>
                <a:cs typeface="Aptos"/>
              </a:rPr>
              <a:t>• Keep a local travel identity</a:t>
            </a:r>
          </a:p>
          <a:p xmlns:a="http://schemas.openxmlformats.org/drawingml/2006/main">
            <a:pPr algn="l">
              <a:defRPr sz="1425" b="0" i="0">
                <a:solidFill>
                  <a:srgbClr val="2B1D14"/>
                </a:solidFill>
                <a:latin typeface="Aptos"/>
                <a:ea typeface="Aptos"/>
                <a:cs typeface="Aptos"/>
              </a:defRPr>
            </a:pPr>
            <a:r>
              <a:rPr sz="1425" b="0" i="0">
                <a:solidFill>
                  <a:srgbClr val="2B1D14"/>
                </a:solidFill>
                <a:latin typeface="Aptos"/>
                <a:ea typeface="Aptos"/>
                <a:cs typeface="Aptos"/>
              </a:rPr>
              <a:t>• Participate through tips and questions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083842b3ec84e90"/>
          <a:stretch xmlns:a="http://schemas.openxmlformats.org/drawingml/2006/main"/>
        </p:blipFill>
        <p:spPr>
          <a:xfrm xmlns:a="http://schemas.openxmlformats.org/drawingml/2006/main">
            <a:off x="7000875" y="1339850"/>
            <a:ext cx="1809750" cy="3921125"/>
          </a:xfrm>
          <a:prstGeom xmlns:a="http://schemas.openxmlformats.org/drawingml/2006/main" prst="roundRect">
            <a:avLst>
              <a:gd name="adj" fmla="val 8421"/>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5e9cd03afcf4254"/>
          <a:stretch xmlns:a="http://schemas.openxmlformats.org/drawingml/2006/main"/>
        </p:blipFill>
        <p:spPr>
          <a:xfrm xmlns:a="http://schemas.openxmlformats.org/drawingml/2006/main">
            <a:off x="9163050" y="1339850"/>
            <a:ext cx="1809750" cy="3921125"/>
          </a:xfrm>
          <a:prstGeom xmlns:a="http://schemas.openxmlformats.org/drawingml/2006/main" prst="roundRect">
            <a:avLst>
              <a:gd name="adj" fmla="val 8421"/>
            </a:avLst>
          </a:prstGeom>
        </p:spPr>
      </p:pic>
      <p:sp>
        <p:nvSpPr>
          <p:cNvPr id="10" name="">
            <a:extLst xmlns:a="http://schemas.openxmlformats.org/drawingml/2006/main">
              <a:ext uri="{FF2B5EF4-FFF2-40B4-BE49-F238E27FC236}">
                <a16:creationId xmlns:a16="http://schemas.microsoft.com/office/drawing/2014/main" id="{DCD7C1CE-C0D8-4165-9103-8721F6BBEE72}"/>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1" name="">
            <a:extLst xmlns:a="http://schemas.openxmlformats.org/drawingml/2006/main">
              <a:ext uri="{FF2B5EF4-FFF2-40B4-BE49-F238E27FC236}">
                <a16:creationId xmlns:a16="http://schemas.microsoft.com/office/drawing/2014/main" id="{F620EBBC-33D0-42BC-A578-582CF31BACC4}"/>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117972743"/>
      </p:ext>
    </p:extLst>
  </p:cSld>
</p:sld>
</file>

<file path=ppt/slides/slide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0076439-8879-4B53-981D-CBA1C23C5DC6}"/>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B65331"/>
                </a:solidFill>
                <a:latin typeface="Aptos"/>
                <a:ea typeface="Aptos"/>
                <a:cs typeface="Aptos"/>
              </a:defRPr>
            </a:pPr>
            <a:r>
              <a:rPr sz="975" b="1" i="0">
                <a:solidFill>
                  <a:srgbClr val="B65331"/>
                </a:solidFill>
                <a:latin typeface="Aptos"/>
                <a:ea typeface="Aptos"/>
                <a:cs typeface="Aptos"/>
              </a:rPr>
              <a:t>LIVE DEMO</a:t>
            </a:r>
          </a:p>
        </p:txBody>
      </p:sp>
      <p:sp>
        <p:nvSpPr>
          <p:cNvPr id="2" name="">
            <a:extLst xmlns:a="http://schemas.openxmlformats.org/drawingml/2006/main">
              <a:ext uri="{FF2B5EF4-FFF2-40B4-BE49-F238E27FC236}">
                <a16:creationId xmlns:a16="http://schemas.microsoft.com/office/drawing/2014/main" id="{21E25C8C-E648-4334-8A6E-683EEF051F6D}"/>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806F65"/>
                </a:solidFill>
                <a:latin typeface="Aptos"/>
                <a:ea typeface="Aptos"/>
                <a:cs typeface="Aptos"/>
              </a:defRPr>
            </a:pPr>
            <a:r>
              <a:rPr sz="975" b="1" i="0">
                <a:solidFill>
                  <a:srgbClr val="806F65"/>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3096F7C1-CEEC-425D-AFF5-3282EEA41679}"/>
              </a:ext>
            </a:extLst>
          </p:cNvPr>
          <p:cNvSpPr>
            <a:spLocks xmlns:a="http://schemas.openxmlformats.org/drawingml/2006/main" noGrp="1"/>
          </p:cNvSpPr>
          <p:nvPr/>
        </p:nvSpPr>
        <p:spPr>
          <a:xfrm xmlns:a="http://schemas.openxmlformats.org/drawingml/2006/main">
            <a:off x="685800" y="971550"/>
            <a:ext cx="5905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i="0">
                <a:solidFill>
                  <a:srgbClr val="2B1D14"/>
                </a:solidFill>
                <a:latin typeface="Georgia"/>
                <a:ea typeface="Georgia"/>
                <a:cs typeface="Georgia"/>
              </a:defRPr>
            </a:pPr>
            <a:r>
              <a:rPr sz="3450" b="1" i="0">
                <a:solidFill>
                  <a:srgbClr val="2B1D14"/>
                </a:solidFill>
                <a:latin typeface="Georgia"/>
                <a:ea typeface="Georgia"/>
                <a:cs typeface="Georgia"/>
              </a:rPr>
              <a:t>One traveller journey.</a:t>
            </a:r>
          </a:p>
          <a:p xmlns:a="http://schemas.openxmlformats.org/drawingml/2006/main">
            <a:pPr algn="l">
              <a:defRPr sz="3450" b="1" i="0">
                <a:solidFill>
                  <a:srgbClr val="2B1D14"/>
                </a:solidFill>
                <a:latin typeface="Georgia"/>
                <a:ea typeface="Georgia"/>
                <a:cs typeface="Georgia"/>
              </a:defRPr>
            </a:pPr>
            <a:r>
              <a:rPr sz="3450" b="1" i="0">
                <a:solidFill>
                  <a:srgbClr val="2B1D14"/>
                </a:solidFill>
                <a:latin typeface="Georgia"/>
                <a:ea typeface="Georgia"/>
                <a:cs typeface="Georgia"/>
              </a:rPr>
              <a:t>Four simple actions.</a:t>
            </a:r>
          </a:p>
        </p:txBody>
      </p:sp>
      <p:sp>
        <p:nvSpPr>
          <p:cNvPr id="4" name="">
            <a:extLst xmlns:a="http://schemas.openxmlformats.org/drawingml/2006/main">
              <a:ext uri="{FF2B5EF4-FFF2-40B4-BE49-F238E27FC236}">
                <a16:creationId xmlns:a16="http://schemas.microsoft.com/office/drawing/2014/main" id="{625948EF-2631-4D12-80F6-649361A9F3B4}"/>
              </a:ext>
            </a:extLst>
          </p:cNvPr>
          <p:cNvSpPr>
            <a:spLocks xmlns:a="http://schemas.openxmlformats.org/drawingml/2006/main" noGrp="1"/>
          </p:cNvSpPr>
          <p:nvPr/>
        </p:nvSpPr>
        <p:spPr>
          <a:xfrm xmlns:a="http://schemas.openxmlformats.org/drawingml/2006/main">
            <a:off x="685800" y="3219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C99E42"/>
                </a:solidFill>
                <a:latin typeface="Aptos"/>
                <a:ea typeface="Aptos"/>
                <a:cs typeface="Aptos"/>
              </a:defRPr>
            </a:pPr>
            <a:r>
              <a:rPr sz="1350" b="1" i="0">
                <a:solidFill>
                  <a:srgbClr val="C99E4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13E6FAB8-A924-40F1-A7FD-98AB73C92AD3}"/>
              </a:ext>
            </a:extLst>
          </p:cNvPr>
          <p:cNvSpPr>
            <a:spLocks xmlns:a="http://schemas.openxmlformats.org/drawingml/2006/main" noGrp="1"/>
          </p:cNvSpPr>
          <p:nvPr/>
        </p:nvSpPr>
        <p:spPr>
          <a:xfrm xmlns:a="http://schemas.openxmlformats.org/drawingml/2006/main">
            <a:off x="685800" y="37433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i="0">
                <a:solidFill>
                  <a:srgbClr val="2B1D14"/>
                </a:solidFill>
                <a:latin typeface="Georgia"/>
                <a:ea typeface="Georgia"/>
                <a:cs typeface="Georgia"/>
              </a:defRPr>
            </a:pPr>
            <a:r>
              <a:rPr sz="2250" b="1" i="0">
                <a:solidFill>
                  <a:srgbClr val="2B1D14"/>
                </a:solidFill>
                <a:latin typeface="Georgia"/>
                <a:ea typeface="Georgia"/>
                <a:cs typeface="Georgia"/>
              </a:rPr>
              <a:t>Explore</a:t>
            </a:r>
          </a:p>
        </p:txBody>
      </p:sp>
      <p:sp>
        <p:nvSpPr>
          <p:cNvPr id="6" name="">
            <a:extLst xmlns:a="http://schemas.openxmlformats.org/drawingml/2006/main">
              <a:ext uri="{FF2B5EF4-FFF2-40B4-BE49-F238E27FC236}">
                <a16:creationId xmlns:a16="http://schemas.microsoft.com/office/drawing/2014/main" id="{4AE572B1-D03E-435D-85FB-31347F9CF7CF}"/>
              </a:ext>
            </a:extLst>
          </p:cNvPr>
          <p:cNvSpPr>
            <a:spLocks xmlns:a="http://schemas.openxmlformats.org/drawingml/2006/main" noGrp="1"/>
          </p:cNvSpPr>
          <p:nvPr/>
        </p:nvSpPr>
        <p:spPr>
          <a:xfrm xmlns:a="http://schemas.openxmlformats.org/drawingml/2006/main">
            <a:off x="685800" y="430530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Open the home feed and discover a pagoda.</a:t>
            </a:r>
          </a:p>
        </p:txBody>
      </p:sp>
      <p:sp>
        <p:nvSpPr>
          <p:cNvPr id="7" name="">
            <a:extLst xmlns:a="http://schemas.openxmlformats.org/drawingml/2006/main">
              <a:ext uri="{FF2B5EF4-FFF2-40B4-BE49-F238E27FC236}">
                <a16:creationId xmlns:a16="http://schemas.microsoft.com/office/drawing/2014/main" id="{AA0E5124-04CE-40A4-9DB7-BCBCE4B4D118}"/>
              </a:ext>
            </a:extLst>
          </p:cNvPr>
          <p:cNvSpPr>
            <a:spLocks xmlns:a="http://schemas.openxmlformats.org/drawingml/2006/main" noGrp="1"/>
          </p:cNvSpPr>
          <p:nvPr/>
        </p:nvSpPr>
        <p:spPr>
          <a:xfrm xmlns:a="http://schemas.openxmlformats.org/drawingml/2006/main">
            <a:off x="2933700" y="3848100"/>
            <a:ext cx="304800" cy="0"/>
          </a:xfrm>
          <a:prstGeom xmlns:a="http://schemas.openxmlformats.org/drawingml/2006/main" prst="line">
            <a:avLst/>
          </a:prstGeom>
          <a:noFill xmlns:a="http://schemas.openxmlformats.org/drawingml/2006/main"/>
          <a:ln xmlns:a="http://schemas.openxmlformats.org/drawingml/2006/main" w="13335">
            <a:solidFill>
              <a:srgbClr val="B65331"/>
            </a:solidFill>
            <a:prstDash val="solid"/>
          </a:ln>
        </p:spPr>
      </p:sp>
      <p:sp>
        <p:nvSpPr>
          <p:cNvPr id="8" name="">
            <a:extLst xmlns:a="http://schemas.openxmlformats.org/drawingml/2006/main">
              <a:ext uri="{FF2B5EF4-FFF2-40B4-BE49-F238E27FC236}">
                <a16:creationId xmlns:a16="http://schemas.microsoft.com/office/drawing/2014/main" id="{E98F91FB-3117-4E8A-9F44-33D9E5AB2D58}"/>
              </a:ext>
            </a:extLst>
          </p:cNvPr>
          <p:cNvSpPr>
            <a:spLocks xmlns:a="http://schemas.openxmlformats.org/drawingml/2006/main" noGrp="1"/>
          </p:cNvSpPr>
          <p:nvPr/>
        </p:nvSpPr>
        <p:spPr>
          <a:xfrm xmlns:a="http://schemas.openxmlformats.org/drawingml/2006/main">
            <a:off x="3371850" y="3219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C99E42"/>
                </a:solidFill>
                <a:latin typeface="Aptos"/>
                <a:ea typeface="Aptos"/>
                <a:cs typeface="Aptos"/>
              </a:defRPr>
            </a:pPr>
            <a:r>
              <a:rPr sz="1350" b="1" i="0">
                <a:solidFill>
                  <a:srgbClr val="C99E42"/>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7E5D4092-6C46-4893-8BF2-680C5AD0848D}"/>
              </a:ext>
            </a:extLst>
          </p:cNvPr>
          <p:cNvSpPr>
            <a:spLocks xmlns:a="http://schemas.openxmlformats.org/drawingml/2006/main" noGrp="1"/>
          </p:cNvSpPr>
          <p:nvPr/>
        </p:nvSpPr>
        <p:spPr>
          <a:xfrm xmlns:a="http://schemas.openxmlformats.org/drawingml/2006/main">
            <a:off x="3371850" y="37433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i="0">
                <a:solidFill>
                  <a:srgbClr val="2B1D14"/>
                </a:solidFill>
                <a:latin typeface="Georgia"/>
                <a:ea typeface="Georgia"/>
                <a:cs typeface="Georgia"/>
              </a:defRPr>
            </a:pPr>
            <a:r>
              <a:rPr sz="2250" b="1" i="0">
                <a:solidFill>
                  <a:srgbClr val="2B1D14"/>
                </a:solidFill>
                <a:latin typeface="Georgia"/>
                <a:ea typeface="Georgia"/>
                <a:cs typeface="Georgia"/>
              </a:rPr>
              <a:t>Save</a:t>
            </a:r>
          </a:p>
        </p:txBody>
      </p:sp>
      <p:sp>
        <p:nvSpPr>
          <p:cNvPr id="10" name="">
            <a:extLst xmlns:a="http://schemas.openxmlformats.org/drawingml/2006/main">
              <a:ext uri="{FF2B5EF4-FFF2-40B4-BE49-F238E27FC236}">
                <a16:creationId xmlns:a16="http://schemas.microsoft.com/office/drawing/2014/main" id="{33908C50-DC78-46C0-AA0A-561688A3A70D}"/>
              </a:ext>
            </a:extLst>
          </p:cNvPr>
          <p:cNvSpPr>
            <a:spLocks xmlns:a="http://schemas.openxmlformats.org/drawingml/2006/main" noGrp="1"/>
          </p:cNvSpPr>
          <p:nvPr/>
        </p:nvSpPr>
        <p:spPr>
          <a:xfrm xmlns:a="http://schemas.openxmlformats.org/drawingml/2006/main">
            <a:off x="3371850" y="430530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Bookmark a place worth returning to.</a:t>
            </a:r>
          </a:p>
        </p:txBody>
      </p:sp>
      <p:sp>
        <p:nvSpPr>
          <p:cNvPr id="11" name="">
            <a:extLst xmlns:a="http://schemas.openxmlformats.org/drawingml/2006/main">
              <a:ext uri="{FF2B5EF4-FFF2-40B4-BE49-F238E27FC236}">
                <a16:creationId xmlns:a16="http://schemas.microsoft.com/office/drawing/2014/main" id="{22831C8E-371D-4E4C-A2DB-69CE3D3EB2A2}"/>
              </a:ext>
            </a:extLst>
          </p:cNvPr>
          <p:cNvSpPr>
            <a:spLocks xmlns:a="http://schemas.openxmlformats.org/drawingml/2006/main" noGrp="1"/>
          </p:cNvSpPr>
          <p:nvPr/>
        </p:nvSpPr>
        <p:spPr>
          <a:xfrm xmlns:a="http://schemas.openxmlformats.org/drawingml/2006/main">
            <a:off x="5619750" y="3848100"/>
            <a:ext cx="304800" cy="0"/>
          </a:xfrm>
          <a:prstGeom xmlns:a="http://schemas.openxmlformats.org/drawingml/2006/main" prst="line">
            <a:avLst/>
          </a:prstGeom>
          <a:noFill xmlns:a="http://schemas.openxmlformats.org/drawingml/2006/main"/>
          <a:ln xmlns:a="http://schemas.openxmlformats.org/drawingml/2006/main" w="13335">
            <a:solidFill>
              <a:srgbClr val="B65331"/>
            </a:solidFill>
            <a:prstDash val="solid"/>
          </a:ln>
        </p:spPr>
      </p:sp>
      <p:sp>
        <p:nvSpPr>
          <p:cNvPr id="12" name="">
            <a:extLst xmlns:a="http://schemas.openxmlformats.org/drawingml/2006/main">
              <a:ext uri="{FF2B5EF4-FFF2-40B4-BE49-F238E27FC236}">
                <a16:creationId xmlns:a16="http://schemas.microsoft.com/office/drawing/2014/main" id="{3F8458EB-D552-485F-9C65-26F51600D0E3}"/>
              </a:ext>
            </a:extLst>
          </p:cNvPr>
          <p:cNvSpPr>
            <a:spLocks xmlns:a="http://schemas.openxmlformats.org/drawingml/2006/main" noGrp="1"/>
          </p:cNvSpPr>
          <p:nvPr/>
        </p:nvSpPr>
        <p:spPr>
          <a:xfrm xmlns:a="http://schemas.openxmlformats.org/drawingml/2006/main">
            <a:off x="6057900" y="3219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C99E42"/>
                </a:solidFill>
                <a:latin typeface="Aptos"/>
                <a:ea typeface="Aptos"/>
                <a:cs typeface="Aptos"/>
              </a:defRPr>
            </a:pPr>
            <a:r>
              <a:rPr sz="1350" b="1" i="0">
                <a:solidFill>
                  <a:srgbClr val="C99E42"/>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3BB316A8-72AA-4A93-9D35-1F51E9D9F71A}"/>
              </a:ext>
            </a:extLst>
          </p:cNvPr>
          <p:cNvSpPr>
            <a:spLocks xmlns:a="http://schemas.openxmlformats.org/drawingml/2006/main" noGrp="1"/>
          </p:cNvSpPr>
          <p:nvPr/>
        </p:nvSpPr>
        <p:spPr>
          <a:xfrm xmlns:a="http://schemas.openxmlformats.org/drawingml/2006/main">
            <a:off x="6057900" y="37433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i="0">
                <a:solidFill>
                  <a:srgbClr val="2B1D14"/>
                </a:solidFill>
                <a:latin typeface="Georgia"/>
                <a:ea typeface="Georgia"/>
                <a:cs typeface="Georgia"/>
              </a:defRPr>
            </a:pPr>
            <a:r>
              <a:rPr sz="2250" b="1" i="0">
                <a:solidFill>
                  <a:srgbClr val="2B1D14"/>
                </a:solidFill>
                <a:latin typeface="Georgia"/>
                <a:ea typeface="Georgia"/>
                <a:cs typeface="Georgia"/>
              </a:rPr>
              <a:t>Plan</a:t>
            </a:r>
          </a:p>
        </p:txBody>
      </p:sp>
      <p:sp>
        <p:nvSpPr>
          <p:cNvPr id="14" name="">
            <a:extLst xmlns:a="http://schemas.openxmlformats.org/drawingml/2006/main">
              <a:ext uri="{FF2B5EF4-FFF2-40B4-BE49-F238E27FC236}">
                <a16:creationId xmlns:a16="http://schemas.microsoft.com/office/drawing/2014/main" id="{A8D1FF7F-9C78-4AFB-883B-9D72A594D4B1}"/>
              </a:ext>
            </a:extLst>
          </p:cNvPr>
          <p:cNvSpPr>
            <a:spLocks xmlns:a="http://schemas.openxmlformats.org/drawingml/2006/main" noGrp="1"/>
          </p:cNvSpPr>
          <p:nvPr/>
        </p:nvSpPr>
        <p:spPr>
          <a:xfrm xmlns:a="http://schemas.openxmlformats.org/drawingml/2006/main">
            <a:off x="6057900" y="430530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Add saved stops to a journey on the map.</a:t>
            </a:r>
          </a:p>
        </p:txBody>
      </p:sp>
      <p:sp>
        <p:nvSpPr>
          <p:cNvPr id="15" name="">
            <a:extLst xmlns:a="http://schemas.openxmlformats.org/drawingml/2006/main">
              <a:ext uri="{FF2B5EF4-FFF2-40B4-BE49-F238E27FC236}">
                <a16:creationId xmlns:a16="http://schemas.microsoft.com/office/drawing/2014/main" id="{E41A129F-4BD0-405D-BC94-F334B8129767}"/>
              </a:ext>
            </a:extLst>
          </p:cNvPr>
          <p:cNvSpPr>
            <a:spLocks xmlns:a="http://schemas.openxmlformats.org/drawingml/2006/main" noGrp="1"/>
          </p:cNvSpPr>
          <p:nvPr/>
        </p:nvSpPr>
        <p:spPr>
          <a:xfrm xmlns:a="http://schemas.openxmlformats.org/drawingml/2006/main">
            <a:off x="8305800" y="3848100"/>
            <a:ext cx="304800" cy="0"/>
          </a:xfrm>
          <a:prstGeom xmlns:a="http://schemas.openxmlformats.org/drawingml/2006/main" prst="line">
            <a:avLst/>
          </a:prstGeom>
          <a:noFill xmlns:a="http://schemas.openxmlformats.org/drawingml/2006/main"/>
          <a:ln xmlns:a="http://schemas.openxmlformats.org/drawingml/2006/main" w="13335">
            <a:solidFill>
              <a:srgbClr val="B65331"/>
            </a:solidFill>
            <a:prstDash val="solid"/>
          </a:ln>
        </p:spPr>
      </p:sp>
      <p:sp>
        <p:nvSpPr>
          <p:cNvPr id="16" name="">
            <a:extLst xmlns:a="http://schemas.openxmlformats.org/drawingml/2006/main">
              <a:ext uri="{FF2B5EF4-FFF2-40B4-BE49-F238E27FC236}">
                <a16:creationId xmlns:a16="http://schemas.microsoft.com/office/drawing/2014/main" id="{BC2CF534-2E3C-4D3E-B34B-9259C80CCB27}"/>
              </a:ext>
            </a:extLst>
          </p:cNvPr>
          <p:cNvSpPr>
            <a:spLocks xmlns:a="http://schemas.openxmlformats.org/drawingml/2006/main" noGrp="1"/>
          </p:cNvSpPr>
          <p:nvPr/>
        </p:nvSpPr>
        <p:spPr>
          <a:xfrm xmlns:a="http://schemas.openxmlformats.org/drawingml/2006/main">
            <a:off x="8743950" y="3219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C99E42"/>
                </a:solidFill>
                <a:latin typeface="Aptos"/>
                <a:ea typeface="Aptos"/>
                <a:cs typeface="Aptos"/>
              </a:defRPr>
            </a:pPr>
            <a:r>
              <a:rPr sz="1350" b="1" i="0">
                <a:solidFill>
                  <a:srgbClr val="C99E42"/>
                </a:solidFill>
                <a:latin typeface="Aptos"/>
                <a:ea typeface="Aptos"/>
                <a:cs typeface="Aptos"/>
              </a:rPr>
              <a:t>04</a:t>
            </a:r>
          </a:p>
        </p:txBody>
      </p:sp>
      <p:sp>
        <p:nvSpPr>
          <p:cNvPr id="17" name="">
            <a:extLst xmlns:a="http://schemas.openxmlformats.org/drawingml/2006/main">
              <a:ext uri="{FF2B5EF4-FFF2-40B4-BE49-F238E27FC236}">
                <a16:creationId xmlns:a16="http://schemas.microsoft.com/office/drawing/2014/main" id="{3D71F532-2E6F-4E8C-8F4B-6F84F1A31806}"/>
              </a:ext>
            </a:extLst>
          </p:cNvPr>
          <p:cNvSpPr>
            <a:spLocks xmlns:a="http://schemas.openxmlformats.org/drawingml/2006/main" noGrp="1"/>
          </p:cNvSpPr>
          <p:nvPr/>
        </p:nvSpPr>
        <p:spPr>
          <a:xfrm xmlns:a="http://schemas.openxmlformats.org/drawingml/2006/main">
            <a:off x="8743950" y="37433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i="0">
                <a:solidFill>
                  <a:srgbClr val="2B1D14"/>
                </a:solidFill>
                <a:latin typeface="Georgia"/>
                <a:ea typeface="Georgia"/>
                <a:cs typeface="Georgia"/>
              </a:defRPr>
            </a:pPr>
            <a:r>
              <a:rPr sz="2250" b="1" i="0">
                <a:solidFill>
                  <a:srgbClr val="2B1D14"/>
                </a:solidFill>
                <a:latin typeface="Georgia"/>
                <a:ea typeface="Georgia"/>
                <a:cs typeface="Georgia"/>
              </a:rPr>
              <a:t>Go</a:t>
            </a:r>
          </a:p>
        </p:txBody>
      </p:sp>
      <p:sp>
        <p:nvSpPr>
          <p:cNvPr id="18" name="">
            <a:extLst xmlns:a="http://schemas.openxmlformats.org/drawingml/2006/main">
              <a:ext uri="{FF2B5EF4-FFF2-40B4-BE49-F238E27FC236}">
                <a16:creationId xmlns:a16="http://schemas.microsoft.com/office/drawing/2014/main" id="{324DE9D8-EBFC-46B9-8862-F065310662A2}"/>
              </a:ext>
            </a:extLst>
          </p:cNvPr>
          <p:cNvSpPr>
            <a:spLocks xmlns:a="http://schemas.openxmlformats.org/drawingml/2006/main" noGrp="1"/>
          </p:cNvSpPr>
          <p:nvPr/>
        </p:nvSpPr>
        <p:spPr>
          <a:xfrm xmlns:a="http://schemas.openxmlformats.org/drawingml/2006/main">
            <a:off x="8743950" y="430530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Use the route view to explore with confidence.</a:t>
            </a:r>
          </a:p>
        </p:txBody>
      </p:sp>
      <p:sp>
        <p:nvSpPr>
          <p:cNvPr id="19" name="">
            <a:extLst xmlns:a="http://schemas.openxmlformats.org/drawingml/2006/main">
              <a:ext uri="{FF2B5EF4-FFF2-40B4-BE49-F238E27FC236}">
                <a16:creationId xmlns:a16="http://schemas.microsoft.com/office/drawing/2014/main" id="{2B531992-AD56-4227-84E9-FE3485C39295}"/>
              </a:ext>
            </a:extLst>
          </p:cNvPr>
          <p:cNvSpPr>
            <a:spLocks xmlns:a="http://schemas.openxmlformats.org/drawingml/2006/main" noGrp="1"/>
          </p:cNvSpPr>
          <p:nvPr/>
        </p:nvSpPr>
        <p:spPr>
          <a:xfrm xmlns:a="http://schemas.openxmlformats.org/drawingml/2006/main">
            <a:off x="685800" y="5486400"/>
            <a:ext cx="10820400" cy="571500"/>
          </a:xfrm>
          <a:prstGeom xmlns:a="http://schemas.openxmlformats.org/drawingml/2006/main" prst="roundRect">
            <a:avLst>
              <a:gd name="adj" fmla="val 26667"/>
            </a:avLst>
          </a:prstGeom>
          <a:solidFill xmlns:a="http://schemas.openxmlformats.org/drawingml/2006/main">
            <a:srgbClr val="F0E5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046D580-DB06-412F-96D1-455D1B4EBEAF}"/>
              </a:ext>
            </a:extLst>
          </p:cNvPr>
          <p:cNvSpPr>
            <a:spLocks xmlns:a="http://schemas.openxmlformats.org/drawingml/2006/main" noGrp="1"/>
          </p:cNvSpPr>
          <p:nvPr/>
        </p:nvSpPr>
        <p:spPr>
          <a:xfrm xmlns:a="http://schemas.openxmlformats.org/drawingml/2006/main">
            <a:off x="952500" y="56388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i="0">
                <a:solidFill>
                  <a:srgbClr val="3A2215"/>
                </a:solidFill>
                <a:latin typeface="Aptos"/>
                <a:ea typeface="Aptos"/>
                <a:cs typeface="Aptos"/>
              </a:defRPr>
            </a:pPr>
            <a:r>
              <a:rPr sz="1575" b="1" i="0">
                <a:solidFill>
                  <a:srgbClr val="3A2215"/>
                </a:solidFill>
                <a:latin typeface="Aptos"/>
                <a:ea typeface="Aptos"/>
                <a:cs typeface="Aptos"/>
              </a:rPr>
              <a:t>Live proof matters: the pitch can move straight from this slide into the Android app.</a:t>
            </a:r>
          </a:p>
        </p:txBody>
      </p:sp>
      <p:sp>
        <p:nvSpPr>
          <p:cNvPr id="21" name="">
            <a:extLst xmlns:a="http://schemas.openxmlformats.org/drawingml/2006/main">
              <a:ext uri="{FF2B5EF4-FFF2-40B4-BE49-F238E27FC236}">
                <a16:creationId xmlns:a16="http://schemas.microsoft.com/office/drawing/2014/main" id="{C7C749E8-9739-4E5A-ADF6-CC73223A6230}"/>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22" name="">
            <a:extLst xmlns:a="http://schemas.openxmlformats.org/drawingml/2006/main">
              <a:ext uri="{FF2B5EF4-FFF2-40B4-BE49-F238E27FC236}">
                <a16:creationId xmlns:a16="http://schemas.microsoft.com/office/drawing/2014/main" id="{A67411CF-700D-4185-BA52-BC10A97BED34}"/>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420675889"/>
      </p:ext>
    </p:extLst>
  </p:cSld>
</p:sld>
</file>

<file path=ppt/slides/slide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50BD144-ABA8-4EB1-B32F-4AE2DC35F2AA}"/>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B65331"/>
                </a:solidFill>
                <a:latin typeface="Aptos"/>
                <a:ea typeface="Aptos"/>
                <a:cs typeface="Aptos"/>
              </a:defRPr>
            </a:pPr>
            <a:r>
              <a:rPr sz="975" b="1" i="0">
                <a:solidFill>
                  <a:srgbClr val="B65331"/>
                </a:solidFill>
                <a:latin typeface="Aptos"/>
                <a:ea typeface="Aptos"/>
                <a:cs typeface="Aptos"/>
              </a:rPr>
              <a:t>WHAT HAS BEEN DELIVERED</a:t>
            </a:r>
          </a:p>
        </p:txBody>
      </p:sp>
      <p:sp>
        <p:nvSpPr>
          <p:cNvPr id="2" name="">
            <a:extLst xmlns:a="http://schemas.openxmlformats.org/drawingml/2006/main">
              <a:ext uri="{FF2B5EF4-FFF2-40B4-BE49-F238E27FC236}">
                <a16:creationId xmlns:a16="http://schemas.microsoft.com/office/drawing/2014/main" id="{4E396DD3-B8D7-4670-A7C9-B355D6BDA362}"/>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806F65"/>
                </a:solidFill>
                <a:latin typeface="Aptos"/>
                <a:ea typeface="Aptos"/>
                <a:cs typeface="Aptos"/>
              </a:defRPr>
            </a:pPr>
            <a:r>
              <a:rPr sz="975" b="1" i="0">
                <a:solidFill>
                  <a:srgbClr val="806F65"/>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6223C3B9-43D4-4F0B-ABE5-2A90F62D519A}"/>
              </a:ext>
            </a:extLst>
          </p:cNvPr>
          <p:cNvSpPr>
            <a:spLocks xmlns:a="http://schemas.openxmlformats.org/drawingml/2006/main" noGrp="1"/>
          </p:cNvSpPr>
          <p:nvPr/>
        </p:nvSpPr>
        <p:spPr>
          <a:xfrm xmlns:a="http://schemas.openxmlformats.org/drawingml/2006/main">
            <a:off x="685800" y="952500"/>
            <a:ext cx="533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i="0">
                <a:solidFill>
                  <a:srgbClr val="2B1D14"/>
                </a:solidFill>
                <a:latin typeface="Georgia"/>
                <a:ea typeface="Georgia"/>
                <a:cs typeface="Georgia"/>
              </a:defRPr>
            </a:pPr>
            <a:r>
              <a:rPr sz="3450" b="1" i="0">
                <a:solidFill>
                  <a:srgbClr val="2B1D14"/>
                </a:solidFill>
                <a:latin typeface="Georgia"/>
                <a:ea typeface="Georgia"/>
                <a:cs typeface="Georgia"/>
              </a:rPr>
              <a:t>A working result—</a:t>
            </a:r>
          </a:p>
          <a:p xmlns:a="http://schemas.openxmlformats.org/drawingml/2006/main">
            <a:pPr algn="l">
              <a:defRPr sz="3450" b="1" i="0">
                <a:solidFill>
                  <a:srgbClr val="2B1D14"/>
                </a:solidFill>
                <a:latin typeface="Georgia"/>
                <a:ea typeface="Georgia"/>
                <a:cs typeface="Georgia"/>
              </a:defRPr>
            </a:pPr>
            <a:r>
              <a:rPr sz="3450" b="1" i="0">
                <a:solidFill>
                  <a:srgbClr val="2B1D14"/>
                </a:solidFill>
                <a:latin typeface="Georgia"/>
                <a:ea typeface="Georgia"/>
                <a:cs typeface="Georgia"/>
              </a:rPr>
              <a:t>not a static concept.</a:t>
            </a:r>
          </a:p>
        </p:txBody>
      </p:sp>
      <p:sp>
        <p:nvSpPr>
          <p:cNvPr id="4" name="">
            <a:extLst xmlns:a="http://schemas.openxmlformats.org/drawingml/2006/main">
              <a:ext uri="{FF2B5EF4-FFF2-40B4-BE49-F238E27FC236}">
                <a16:creationId xmlns:a16="http://schemas.microsoft.com/office/drawing/2014/main" id="{B4535649-9AEF-4F49-BF61-913E5713441E}"/>
              </a:ext>
            </a:extLst>
          </p:cNvPr>
          <p:cNvSpPr>
            <a:spLocks xmlns:a="http://schemas.openxmlformats.org/drawingml/2006/main" noGrp="1"/>
          </p:cNvSpPr>
          <p:nvPr/>
        </p:nvSpPr>
        <p:spPr>
          <a:xfrm xmlns:a="http://schemas.openxmlformats.org/drawingml/2006/main">
            <a:off x="704850" y="26479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5" name="">
            <a:extLst xmlns:a="http://schemas.openxmlformats.org/drawingml/2006/main">
              <a:ext uri="{FF2B5EF4-FFF2-40B4-BE49-F238E27FC236}">
                <a16:creationId xmlns:a16="http://schemas.microsoft.com/office/drawing/2014/main" id="{4A614314-C683-4EA2-81A6-8B66FF8BEB5D}"/>
              </a:ext>
            </a:extLst>
          </p:cNvPr>
          <p:cNvSpPr>
            <a:spLocks xmlns:a="http://schemas.openxmlformats.org/drawingml/2006/main" noGrp="1"/>
          </p:cNvSpPr>
          <p:nvPr/>
        </p:nvSpPr>
        <p:spPr>
          <a:xfrm xmlns:a="http://schemas.openxmlformats.org/drawingml/2006/main">
            <a:off x="1028700" y="26860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2B1D14"/>
                </a:solidFill>
                <a:latin typeface="Aptos"/>
                <a:ea typeface="Aptos"/>
                <a:cs typeface="Aptos"/>
              </a:defRPr>
            </a:pPr>
            <a:r>
              <a:rPr sz="1425" b="1" i="0">
                <a:solidFill>
                  <a:srgbClr val="2B1D14"/>
                </a:solidFill>
                <a:latin typeface="Aptos"/>
                <a:ea typeface="Aptos"/>
                <a:cs typeface="Aptos"/>
              </a:rPr>
              <a:t>Flutter mobile app</a:t>
            </a:r>
          </a:p>
        </p:txBody>
      </p:sp>
      <p:sp>
        <p:nvSpPr>
          <p:cNvPr id="6" name="">
            <a:extLst xmlns:a="http://schemas.openxmlformats.org/drawingml/2006/main">
              <a:ext uri="{FF2B5EF4-FFF2-40B4-BE49-F238E27FC236}">
                <a16:creationId xmlns:a16="http://schemas.microsoft.com/office/drawing/2014/main" id="{9BC8E5B8-8ED3-4E2A-ACE2-3CEBD4DA029D}"/>
              </a:ext>
            </a:extLst>
          </p:cNvPr>
          <p:cNvSpPr>
            <a:spLocks xmlns:a="http://schemas.openxmlformats.org/drawingml/2006/main" noGrp="1"/>
          </p:cNvSpPr>
          <p:nvPr/>
        </p:nvSpPr>
        <p:spPr>
          <a:xfrm xmlns:a="http://schemas.openxmlformats.org/drawingml/2006/main">
            <a:off x="3714750" y="268605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Responsive mobile interface and app navigation</a:t>
            </a:r>
          </a:p>
        </p:txBody>
      </p:sp>
      <p:sp>
        <p:nvSpPr>
          <p:cNvPr id="7" name="">
            <a:extLst xmlns:a="http://schemas.openxmlformats.org/drawingml/2006/main">
              <a:ext uri="{FF2B5EF4-FFF2-40B4-BE49-F238E27FC236}">
                <a16:creationId xmlns:a16="http://schemas.microsoft.com/office/drawing/2014/main" id="{E5C6223C-5B7B-4A7D-AFA6-7246A89939AD}"/>
              </a:ext>
            </a:extLst>
          </p:cNvPr>
          <p:cNvSpPr>
            <a:spLocks xmlns:a="http://schemas.openxmlformats.org/drawingml/2006/main" noGrp="1"/>
          </p:cNvSpPr>
          <p:nvPr/>
        </p:nvSpPr>
        <p:spPr>
          <a:xfrm xmlns:a="http://schemas.openxmlformats.org/drawingml/2006/main">
            <a:off x="1028700" y="3086100"/>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8" name="">
            <a:extLst xmlns:a="http://schemas.openxmlformats.org/drawingml/2006/main">
              <a:ext uri="{FF2B5EF4-FFF2-40B4-BE49-F238E27FC236}">
                <a16:creationId xmlns:a16="http://schemas.microsoft.com/office/drawing/2014/main" id="{CA20CFB5-9E1A-4D89-8037-F7F853339414}"/>
              </a:ext>
            </a:extLst>
          </p:cNvPr>
          <p:cNvSpPr>
            <a:spLocks xmlns:a="http://schemas.openxmlformats.org/drawingml/2006/main" noGrp="1"/>
          </p:cNvSpPr>
          <p:nvPr/>
        </p:nvSpPr>
        <p:spPr>
          <a:xfrm xmlns:a="http://schemas.openxmlformats.org/drawingml/2006/main">
            <a:off x="704850" y="326707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85E8A02F-4B97-457B-8A03-1C3C69B349A7}"/>
              </a:ext>
            </a:extLst>
          </p:cNvPr>
          <p:cNvSpPr>
            <a:spLocks xmlns:a="http://schemas.openxmlformats.org/drawingml/2006/main" noGrp="1"/>
          </p:cNvSpPr>
          <p:nvPr/>
        </p:nvSpPr>
        <p:spPr>
          <a:xfrm xmlns:a="http://schemas.openxmlformats.org/drawingml/2006/main">
            <a:off x="1028700" y="33051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2B1D14"/>
                </a:solidFill>
                <a:latin typeface="Aptos"/>
                <a:ea typeface="Aptos"/>
                <a:cs typeface="Aptos"/>
              </a:defRPr>
            </a:pPr>
            <a:r>
              <a:rPr sz="1425" b="1" i="0">
                <a:solidFill>
                  <a:srgbClr val="2B1D14"/>
                </a:solidFill>
                <a:latin typeface="Aptos"/>
                <a:ea typeface="Aptos"/>
                <a:cs typeface="Aptos"/>
              </a:rPr>
              <a:t>Pagoda discovery</a:t>
            </a:r>
          </a:p>
        </p:txBody>
      </p:sp>
      <p:sp>
        <p:nvSpPr>
          <p:cNvPr id="10" name="">
            <a:extLst xmlns:a="http://schemas.openxmlformats.org/drawingml/2006/main">
              <a:ext uri="{FF2B5EF4-FFF2-40B4-BE49-F238E27FC236}">
                <a16:creationId xmlns:a16="http://schemas.microsoft.com/office/drawing/2014/main" id="{08C73154-3B64-4FA5-850B-35B37EAB9397}"/>
              </a:ext>
            </a:extLst>
          </p:cNvPr>
          <p:cNvSpPr>
            <a:spLocks xmlns:a="http://schemas.openxmlformats.org/drawingml/2006/main" noGrp="1"/>
          </p:cNvSpPr>
          <p:nvPr/>
        </p:nvSpPr>
        <p:spPr>
          <a:xfrm xmlns:a="http://schemas.openxmlformats.org/drawingml/2006/main">
            <a:off x="3714750" y="3305175"/>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Searchable, detail-rich sacred-site catalogue</a:t>
            </a:r>
          </a:p>
        </p:txBody>
      </p:sp>
      <p:sp>
        <p:nvSpPr>
          <p:cNvPr id="11" name="">
            <a:extLst xmlns:a="http://schemas.openxmlformats.org/drawingml/2006/main">
              <a:ext uri="{FF2B5EF4-FFF2-40B4-BE49-F238E27FC236}">
                <a16:creationId xmlns:a16="http://schemas.microsoft.com/office/drawing/2014/main" id="{139A05AA-7151-4023-BC72-448EE0E24484}"/>
              </a:ext>
            </a:extLst>
          </p:cNvPr>
          <p:cNvSpPr>
            <a:spLocks xmlns:a="http://schemas.openxmlformats.org/drawingml/2006/main" noGrp="1"/>
          </p:cNvSpPr>
          <p:nvPr/>
        </p:nvSpPr>
        <p:spPr>
          <a:xfrm xmlns:a="http://schemas.openxmlformats.org/drawingml/2006/main">
            <a:off x="1028700" y="3705225"/>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2" name="">
            <a:extLst xmlns:a="http://schemas.openxmlformats.org/drawingml/2006/main">
              <a:ext uri="{FF2B5EF4-FFF2-40B4-BE49-F238E27FC236}">
                <a16:creationId xmlns:a16="http://schemas.microsoft.com/office/drawing/2014/main" id="{34147DE9-4C09-4362-AA6A-F45DB998176A}"/>
              </a:ext>
            </a:extLst>
          </p:cNvPr>
          <p:cNvSpPr>
            <a:spLocks xmlns:a="http://schemas.openxmlformats.org/drawingml/2006/main" noGrp="1"/>
          </p:cNvSpPr>
          <p:nvPr/>
        </p:nvSpPr>
        <p:spPr>
          <a:xfrm xmlns:a="http://schemas.openxmlformats.org/drawingml/2006/main">
            <a:off x="704850" y="38862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A83FDE40-DD31-4609-8464-27C1FE0230ED}"/>
              </a:ext>
            </a:extLst>
          </p:cNvPr>
          <p:cNvSpPr>
            <a:spLocks xmlns:a="http://schemas.openxmlformats.org/drawingml/2006/main" noGrp="1"/>
          </p:cNvSpPr>
          <p:nvPr/>
        </p:nvSpPr>
        <p:spPr>
          <a:xfrm xmlns:a="http://schemas.openxmlformats.org/drawingml/2006/main">
            <a:off x="1028700" y="39243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2B1D14"/>
                </a:solidFill>
                <a:latin typeface="Aptos"/>
                <a:ea typeface="Aptos"/>
                <a:cs typeface="Aptos"/>
              </a:defRPr>
            </a:pPr>
            <a:r>
              <a:rPr sz="1425" b="1" i="0">
                <a:solidFill>
                  <a:srgbClr val="2B1D14"/>
                </a:solidFill>
                <a:latin typeface="Aptos"/>
                <a:ea typeface="Aptos"/>
                <a:cs typeface="Aptos"/>
              </a:rPr>
              <a:t>Map &amp; trips</a:t>
            </a:r>
          </a:p>
        </p:txBody>
      </p:sp>
      <p:sp>
        <p:nvSpPr>
          <p:cNvPr id="14" name="">
            <a:extLst xmlns:a="http://schemas.openxmlformats.org/drawingml/2006/main">
              <a:ext uri="{FF2B5EF4-FFF2-40B4-BE49-F238E27FC236}">
                <a16:creationId xmlns:a16="http://schemas.microsoft.com/office/drawing/2014/main" id="{427CE75F-C44E-4A85-A934-EB877984723B}"/>
              </a:ext>
            </a:extLst>
          </p:cNvPr>
          <p:cNvSpPr>
            <a:spLocks xmlns:a="http://schemas.openxmlformats.org/drawingml/2006/main" noGrp="1"/>
          </p:cNvSpPr>
          <p:nvPr/>
        </p:nvSpPr>
        <p:spPr>
          <a:xfrm xmlns:a="http://schemas.openxmlformats.org/drawingml/2006/main">
            <a:off x="3714750" y="392430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Interactive map, markers, planning modes, and tile fallback</a:t>
            </a:r>
          </a:p>
        </p:txBody>
      </p:sp>
      <p:sp>
        <p:nvSpPr>
          <p:cNvPr id="15" name="">
            <a:extLst xmlns:a="http://schemas.openxmlformats.org/drawingml/2006/main">
              <a:ext uri="{FF2B5EF4-FFF2-40B4-BE49-F238E27FC236}">
                <a16:creationId xmlns:a16="http://schemas.microsoft.com/office/drawing/2014/main" id="{6B45450B-ED33-4396-BCF0-7DB71D86ABC0}"/>
              </a:ext>
            </a:extLst>
          </p:cNvPr>
          <p:cNvSpPr>
            <a:spLocks xmlns:a="http://schemas.openxmlformats.org/drawingml/2006/main" noGrp="1"/>
          </p:cNvSpPr>
          <p:nvPr/>
        </p:nvSpPr>
        <p:spPr>
          <a:xfrm xmlns:a="http://schemas.openxmlformats.org/drawingml/2006/main">
            <a:off x="1028700" y="4324350"/>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6" name="">
            <a:extLst xmlns:a="http://schemas.openxmlformats.org/drawingml/2006/main">
              <a:ext uri="{FF2B5EF4-FFF2-40B4-BE49-F238E27FC236}">
                <a16:creationId xmlns:a16="http://schemas.microsoft.com/office/drawing/2014/main" id="{AD7C65AA-3DD7-49AC-8A64-8FDE71E3897C}"/>
              </a:ext>
            </a:extLst>
          </p:cNvPr>
          <p:cNvSpPr>
            <a:spLocks xmlns:a="http://schemas.openxmlformats.org/drawingml/2006/main" noGrp="1"/>
          </p:cNvSpPr>
          <p:nvPr/>
        </p:nvSpPr>
        <p:spPr>
          <a:xfrm xmlns:a="http://schemas.openxmlformats.org/drawingml/2006/main">
            <a:off x="704850" y="450532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C9E5D919-631E-44F8-92A8-10163DD7E911}"/>
              </a:ext>
            </a:extLst>
          </p:cNvPr>
          <p:cNvSpPr>
            <a:spLocks xmlns:a="http://schemas.openxmlformats.org/drawingml/2006/main" noGrp="1"/>
          </p:cNvSpPr>
          <p:nvPr/>
        </p:nvSpPr>
        <p:spPr>
          <a:xfrm xmlns:a="http://schemas.openxmlformats.org/drawingml/2006/main">
            <a:off x="1028700" y="45434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2B1D14"/>
                </a:solidFill>
                <a:latin typeface="Aptos"/>
                <a:ea typeface="Aptos"/>
                <a:cs typeface="Aptos"/>
              </a:defRPr>
            </a:pPr>
            <a:r>
              <a:rPr sz="1425" b="1" i="0">
                <a:solidFill>
                  <a:srgbClr val="2B1D14"/>
                </a:solidFill>
                <a:latin typeface="Aptos"/>
                <a:ea typeface="Aptos"/>
                <a:cs typeface="Aptos"/>
              </a:rPr>
              <a:t>Personal experience</a:t>
            </a:r>
          </a:p>
        </p:txBody>
      </p:sp>
      <p:sp>
        <p:nvSpPr>
          <p:cNvPr id="18" name="">
            <a:extLst xmlns:a="http://schemas.openxmlformats.org/drawingml/2006/main">
              <a:ext uri="{FF2B5EF4-FFF2-40B4-BE49-F238E27FC236}">
                <a16:creationId xmlns:a16="http://schemas.microsoft.com/office/drawing/2014/main" id="{65515138-75C1-4020-BC06-23AC97AE2129}"/>
              </a:ext>
            </a:extLst>
          </p:cNvPr>
          <p:cNvSpPr>
            <a:spLocks xmlns:a="http://schemas.openxmlformats.org/drawingml/2006/main" noGrp="1"/>
          </p:cNvSpPr>
          <p:nvPr/>
        </p:nvSpPr>
        <p:spPr>
          <a:xfrm xmlns:a="http://schemas.openxmlformats.org/drawingml/2006/main">
            <a:off x="3714750" y="4543425"/>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Saved places, journeys, profile, and community modules</a:t>
            </a:r>
          </a:p>
        </p:txBody>
      </p:sp>
      <p:sp>
        <p:nvSpPr>
          <p:cNvPr id="19" name="">
            <a:extLst xmlns:a="http://schemas.openxmlformats.org/drawingml/2006/main">
              <a:ext uri="{FF2B5EF4-FFF2-40B4-BE49-F238E27FC236}">
                <a16:creationId xmlns:a16="http://schemas.microsoft.com/office/drawing/2014/main" id="{C7048A1A-87B8-475F-A09C-C55CC6E1644D}"/>
              </a:ext>
            </a:extLst>
          </p:cNvPr>
          <p:cNvSpPr>
            <a:spLocks xmlns:a="http://schemas.openxmlformats.org/drawingml/2006/main" noGrp="1"/>
          </p:cNvSpPr>
          <p:nvPr/>
        </p:nvSpPr>
        <p:spPr>
          <a:xfrm xmlns:a="http://schemas.openxmlformats.org/drawingml/2006/main">
            <a:off x="1028700" y="4943475"/>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20" name="">
            <a:extLst xmlns:a="http://schemas.openxmlformats.org/drawingml/2006/main">
              <a:ext uri="{FF2B5EF4-FFF2-40B4-BE49-F238E27FC236}">
                <a16:creationId xmlns:a16="http://schemas.microsoft.com/office/drawing/2014/main" id="{A5B49E6E-E84B-4D3D-A4B0-06DB52E7A0BE}"/>
              </a:ext>
            </a:extLst>
          </p:cNvPr>
          <p:cNvSpPr>
            <a:spLocks xmlns:a="http://schemas.openxmlformats.org/drawingml/2006/main" noGrp="1"/>
          </p:cNvSpPr>
          <p:nvPr/>
        </p:nvSpPr>
        <p:spPr>
          <a:xfrm xmlns:a="http://schemas.openxmlformats.org/drawingml/2006/main">
            <a:off x="704850" y="51244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4E42171A-26EA-4335-82CD-AB029BF615FC}"/>
              </a:ext>
            </a:extLst>
          </p:cNvPr>
          <p:cNvSpPr>
            <a:spLocks xmlns:a="http://schemas.openxmlformats.org/drawingml/2006/main" noGrp="1"/>
          </p:cNvSpPr>
          <p:nvPr/>
        </p:nvSpPr>
        <p:spPr>
          <a:xfrm xmlns:a="http://schemas.openxmlformats.org/drawingml/2006/main">
            <a:off x="1028700" y="5162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2B1D14"/>
                </a:solidFill>
                <a:latin typeface="Aptos"/>
                <a:ea typeface="Aptos"/>
                <a:cs typeface="Aptos"/>
              </a:defRPr>
            </a:pPr>
            <a:r>
              <a:rPr sz="1425" b="1" i="0">
                <a:solidFill>
                  <a:srgbClr val="2B1D14"/>
                </a:solidFill>
                <a:latin typeface="Aptos"/>
                <a:ea typeface="Aptos"/>
                <a:cs typeface="Aptos"/>
              </a:rPr>
              <a:t>Physical-device validation</a:t>
            </a:r>
          </a:p>
        </p:txBody>
      </p:sp>
      <p:sp>
        <p:nvSpPr>
          <p:cNvPr id="22" name="">
            <a:extLst xmlns:a="http://schemas.openxmlformats.org/drawingml/2006/main">
              <a:ext uri="{FF2B5EF4-FFF2-40B4-BE49-F238E27FC236}">
                <a16:creationId xmlns:a16="http://schemas.microsoft.com/office/drawing/2014/main" id="{81F5737C-010E-4D31-BAB6-E702B1792D4A}"/>
              </a:ext>
            </a:extLst>
          </p:cNvPr>
          <p:cNvSpPr>
            <a:spLocks xmlns:a="http://schemas.openxmlformats.org/drawingml/2006/main" noGrp="1"/>
          </p:cNvSpPr>
          <p:nvPr/>
        </p:nvSpPr>
        <p:spPr>
          <a:xfrm xmlns:a="http://schemas.openxmlformats.org/drawingml/2006/main">
            <a:off x="3714750" y="516255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806F65"/>
                </a:solidFill>
                <a:latin typeface="Aptos"/>
                <a:ea typeface="Aptos"/>
                <a:cs typeface="Aptos"/>
              </a:defRPr>
            </a:pPr>
            <a:r>
              <a:rPr sz="1350" b="0" i="0">
                <a:solidFill>
                  <a:srgbClr val="806F65"/>
                </a:solidFill>
                <a:latin typeface="Aptos"/>
                <a:ea typeface="Aptos"/>
                <a:cs typeface="Aptos"/>
              </a:rPr>
              <a:t>Built and tested as an Android arm64 application</a:t>
            </a:r>
          </a:p>
        </p:txBody>
      </p:sp>
      <p:sp>
        <p:nvSpPr>
          <p:cNvPr id="23" name="">
            <a:extLst xmlns:a="http://schemas.openxmlformats.org/drawingml/2006/main">
              <a:ext uri="{FF2B5EF4-FFF2-40B4-BE49-F238E27FC236}">
                <a16:creationId xmlns:a16="http://schemas.microsoft.com/office/drawing/2014/main" id="{13424D62-3C69-4A2B-8456-530239C0724C}"/>
              </a:ext>
            </a:extLst>
          </p:cNvPr>
          <p:cNvSpPr>
            <a:spLocks xmlns:a="http://schemas.openxmlformats.org/drawingml/2006/main" noGrp="1"/>
          </p:cNvSpPr>
          <p:nvPr/>
        </p:nvSpPr>
        <p:spPr>
          <a:xfrm xmlns:a="http://schemas.openxmlformats.org/drawingml/2006/main">
            <a:off x="1028700" y="5562600"/>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c7ffd010659a4d77"/>
          <a:srcRect xmlns:a="http://schemas.openxmlformats.org/drawingml/2006/main" l="19284" t="0" r="19284" b="0"/>
          <a:stretch xmlns:a="http://schemas.openxmlformats.org/drawingml/2006/main">
            <a:fillRect l="0" t="0" r="0" b="0"/>
          </a:stretch>
        </p:blipFill>
        <p:spPr>
          <a:xfrm xmlns:a="http://schemas.openxmlformats.org/drawingml/2006/main">
            <a:off x="9115425" y="971550"/>
            <a:ext cx="2095500" cy="4572000"/>
          </a:xfrm>
          <a:prstGeom xmlns:a="http://schemas.openxmlformats.org/drawingml/2006/main" prst="roundRect">
            <a:avLst>
              <a:gd name="adj" fmla="val 7273"/>
            </a:avLst>
          </a:prstGeom>
        </p:spPr>
      </p:pic>
      <p:sp>
        <p:nvSpPr>
          <p:cNvPr id="25" name="">
            <a:extLst xmlns:a="http://schemas.openxmlformats.org/drawingml/2006/main">
              <a:ext uri="{FF2B5EF4-FFF2-40B4-BE49-F238E27FC236}">
                <a16:creationId xmlns:a16="http://schemas.microsoft.com/office/drawing/2014/main" id="{560DFEFB-E8C8-42BD-BE12-BDC981019C78}"/>
              </a:ext>
            </a:extLst>
          </p:cNvPr>
          <p:cNvSpPr>
            <a:spLocks xmlns:a="http://schemas.openxmlformats.org/drawingml/2006/main" noGrp="1"/>
          </p:cNvSpPr>
          <p:nvPr/>
        </p:nvSpPr>
        <p:spPr>
          <a:xfrm xmlns:a="http://schemas.openxmlformats.org/drawingml/2006/main">
            <a:off x="8858250" y="5715000"/>
            <a:ext cx="2609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2B1D14"/>
                </a:solidFill>
                <a:latin typeface="Georgia"/>
                <a:ea typeface="Georgia"/>
                <a:cs typeface="Georgia"/>
              </a:defRPr>
            </a:pPr>
            <a:r>
              <a:rPr sz="1350" b="1" i="0">
                <a:solidFill>
                  <a:srgbClr val="2B1D14"/>
                </a:solidFill>
                <a:latin typeface="Georgia"/>
                <a:ea typeface="Georgia"/>
                <a:cs typeface="Georgia"/>
              </a:rPr>
              <a:t>A focused foundation</a:t>
            </a:r>
          </a:p>
          <a:p xmlns:a="http://schemas.openxmlformats.org/drawingml/2006/main">
            <a:pPr algn="ctr">
              <a:defRPr sz="1350" b="1" i="0">
                <a:solidFill>
                  <a:srgbClr val="2B1D14"/>
                </a:solidFill>
                <a:latin typeface="Georgia"/>
                <a:ea typeface="Georgia"/>
                <a:cs typeface="Georgia"/>
              </a:defRPr>
            </a:pPr>
            <a:r>
              <a:rPr sz="1350" b="1" i="0">
                <a:solidFill>
                  <a:srgbClr val="2B1D14"/>
                </a:solidFill>
                <a:latin typeface="Georgia"/>
                <a:ea typeface="Georgia"/>
                <a:cs typeface="Georgia"/>
              </a:rPr>
              <a:t>for traveller feedback.</a:t>
            </a:r>
          </a:p>
        </p:txBody>
      </p:sp>
      <p:sp>
        <p:nvSpPr>
          <p:cNvPr id="26" name="">
            <a:extLst xmlns:a="http://schemas.openxmlformats.org/drawingml/2006/main">
              <a:ext uri="{FF2B5EF4-FFF2-40B4-BE49-F238E27FC236}">
                <a16:creationId xmlns:a16="http://schemas.microsoft.com/office/drawing/2014/main" id="{8241A9DB-9F50-4FDF-B0D6-60BF1F902A7C}"/>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27" name="">
            <a:extLst xmlns:a="http://schemas.openxmlformats.org/drawingml/2006/main">
              <a:ext uri="{FF2B5EF4-FFF2-40B4-BE49-F238E27FC236}">
                <a16:creationId xmlns:a16="http://schemas.microsoft.com/office/drawing/2014/main" id="{ADDF2216-DC59-4DF0-82CE-A49911201860}"/>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1908716510"/>
      </p:ext>
    </p:extLst>
  </p:cSld>
</p:sld>
</file>

<file path=ppt/slides/slide8.xml><?xml version="1.0" encoding="utf-8"?>
<p:sld xmlns:p="http://schemas.openxmlformats.org/presentationml/2006/main">
  <p:cSld>
    <p:bg>
      <p:bgPr>
        <a:solidFill xmlns:a="http://schemas.openxmlformats.org/drawingml/2006/main">
          <a:srgbClr val="3A221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d3e13f3146a4d35"/>
          <a:srcRect xmlns:a="http://schemas.openxmlformats.org/drawingml/2006/main" l="0" t="31158" r="0" b="3115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9F579D-55A4-48CD-9035-D7544969B9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B1D14">
              <a:alpha val="78431"/>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CD8D0B-314D-400D-838C-A180FF13E01C}"/>
              </a:ext>
            </a:extLst>
          </p:cNvPr>
          <p:cNvSpPr>
            <a:spLocks xmlns:a="http://schemas.openxmlformats.org/drawingml/2006/main" noGrp="1"/>
          </p:cNvSpPr>
          <p:nvPr/>
        </p:nvSpPr>
        <p:spPr>
          <a:xfrm xmlns:a="http://schemas.openxmlformats.org/drawingml/2006/main">
            <a:off x="723900" y="7429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C99E42"/>
                </a:solidFill>
                <a:latin typeface="Aptos"/>
                <a:ea typeface="Aptos"/>
                <a:cs typeface="Aptos"/>
              </a:defRPr>
            </a:pPr>
            <a:r>
              <a:rPr sz="1275" b="1" i="0">
                <a:solidFill>
                  <a:srgbClr val="C99E42"/>
                </a:solidFill>
                <a:latin typeface="Aptos"/>
                <a:ea typeface="Aptos"/>
                <a:cs typeface="Aptos"/>
              </a:rPr>
              <a:t>BAGANETIC</a:t>
            </a:r>
          </a:p>
        </p:txBody>
      </p:sp>
      <p:sp>
        <p:nvSpPr>
          <p:cNvPr id="4" name="">
            <a:extLst xmlns:a="http://schemas.openxmlformats.org/drawingml/2006/main">
              <a:ext uri="{FF2B5EF4-FFF2-40B4-BE49-F238E27FC236}">
                <a16:creationId xmlns:a16="http://schemas.microsoft.com/office/drawing/2014/main" id="{AF0D4E08-A939-41C4-A8DB-E228C10B893E}"/>
              </a:ext>
            </a:extLst>
          </p:cNvPr>
          <p:cNvSpPr>
            <a:spLocks xmlns:a="http://schemas.openxmlformats.org/drawingml/2006/main" noGrp="1"/>
          </p:cNvSpPr>
          <p:nvPr/>
        </p:nvSpPr>
        <p:spPr>
          <a:xfrm xmlns:a="http://schemas.openxmlformats.org/drawingml/2006/main">
            <a:off x="723900" y="2000250"/>
            <a:ext cx="647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650" b="1" i="0">
                <a:solidFill>
                  <a:srgbClr val="FFFFFF"/>
                </a:solidFill>
                <a:latin typeface="Georgia"/>
                <a:ea typeface="Georgia"/>
                <a:cs typeface="Georgia"/>
              </a:defRPr>
            </a:pPr>
            <a:r>
              <a:rPr sz="4650" b="1" i="0">
                <a:solidFill>
                  <a:srgbClr val="FFFFFF"/>
                </a:solidFill>
                <a:latin typeface="Georgia"/>
                <a:ea typeface="Georgia"/>
                <a:cs typeface="Georgia"/>
              </a:rPr>
              <a:t>Explore Bagan</a:t>
            </a:r>
          </a:p>
          <a:p xmlns:a="http://schemas.openxmlformats.org/drawingml/2006/main">
            <a:pPr algn="l">
              <a:defRPr sz="4650" b="1" i="0">
                <a:solidFill>
                  <a:srgbClr val="FFFFFF"/>
                </a:solidFill>
                <a:latin typeface="Georgia"/>
                <a:ea typeface="Georgia"/>
                <a:cs typeface="Georgia"/>
              </a:defRPr>
            </a:pPr>
            <a:r>
              <a:rPr sz="4650" b="1" i="0">
                <a:solidFill>
                  <a:srgbClr val="FFFFFF"/>
                </a:solidFill>
                <a:latin typeface="Georgia"/>
                <a:ea typeface="Georgia"/>
                <a:cs typeface="Georgia"/>
              </a:rPr>
              <a:t>with context.</a:t>
            </a:r>
          </a:p>
        </p:txBody>
      </p:sp>
      <p:sp>
        <p:nvSpPr>
          <p:cNvPr id="5" name="">
            <a:extLst xmlns:a="http://schemas.openxmlformats.org/drawingml/2006/main">
              <a:ext uri="{FF2B5EF4-FFF2-40B4-BE49-F238E27FC236}">
                <a16:creationId xmlns:a16="http://schemas.microsoft.com/office/drawing/2014/main" id="{14B78C65-3D38-4352-BA45-24AA1A3B4FFA}"/>
              </a:ext>
            </a:extLst>
          </p:cNvPr>
          <p:cNvSpPr>
            <a:spLocks xmlns:a="http://schemas.openxmlformats.org/drawingml/2006/main" noGrp="1"/>
          </p:cNvSpPr>
          <p:nvPr/>
        </p:nvSpPr>
        <p:spPr>
          <a:xfrm xmlns:a="http://schemas.openxmlformats.org/drawingml/2006/main">
            <a:off x="762000" y="409575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F7EBDD"/>
                </a:solidFill>
                <a:latin typeface="Aptos"/>
                <a:ea typeface="Aptos"/>
                <a:cs typeface="Aptos"/>
              </a:defRPr>
            </a:pPr>
            <a:r>
              <a:rPr sz="1800" b="0" i="0">
                <a:solidFill>
                  <a:srgbClr val="F7EBDD"/>
                </a:solidFill>
                <a:latin typeface="Aptos"/>
                <a:ea typeface="Aptos"/>
                <a:cs typeface="Aptos"/>
              </a:rPr>
              <a:t>A working mobile journal for discovery, planning, and a more personal journey through Bagan.</a:t>
            </a:r>
          </a:p>
        </p:txBody>
      </p:sp>
      <p:sp>
        <p:nvSpPr>
          <p:cNvPr id="6" name="">
            <a:extLst xmlns:a="http://schemas.openxmlformats.org/drawingml/2006/main">
              <a:ext uri="{FF2B5EF4-FFF2-40B4-BE49-F238E27FC236}">
                <a16:creationId xmlns:a16="http://schemas.microsoft.com/office/drawing/2014/main" id="{1FE8D107-F57C-4EDA-9787-48D4748008D5}"/>
              </a:ext>
            </a:extLst>
          </p:cNvPr>
          <p:cNvSpPr>
            <a:spLocks xmlns:a="http://schemas.openxmlformats.org/drawingml/2006/main" noGrp="1"/>
          </p:cNvSpPr>
          <p:nvPr/>
        </p:nvSpPr>
        <p:spPr>
          <a:xfrm xmlns:a="http://schemas.openxmlformats.org/drawingml/2006/main">
            <a:off x="762000" y="5334000"/>
            <a:ext cx="2476500" cy="0"/>
          </a:xfrm>
          <a:prstGeom xmlns:a="http://schemas.openxmlformats.org/drawingml/2006/main" prst="line">
            <a:avLst/>
          </a:prstGeom>
          <a:noFill xmlns:a="http://schemas.openxmlformats.org/drawingml/2006/main"/>
          <a:ln xmlns:a="http://schemas.openxmlformats.org/drawingml/2006/main" w="13335">
            <a:solidFill>
              <a:srgbClr val="C99E42"/>
            </a:solidFill>
            <a:prstDash val="solid"/>
          </a:ln>
        </p:spPr>
      </p:sp>
      <p:sp>
        <p:nvSpPr>
          <p:cNvPr id="7" name="">
            <a:extLst xmlns:a="http://schemas.openxmlformats.org/drawingml/2006/main">
              <a:ext uri="{FF2B5EF4-FFF2-40B4-BE49-F238E27FC236}">
                <a16:creationId xmlns:a16="http://schemas.microsoft.com/office/drawing/2014/main" id="{F973EFE4-EC17-4BE3-ABD0-5C38624F848F}"/>
              </a:ext>
            </a:extLst>
          </p:cNvPr>
          <p:cNvSpPr>
            <a:spLocks xmlns:a="http://schemas.openxmlformats.org/drawingml/2006/main" noGrp="1"/>
          </p:cNvSpPr>
          <p:nvPr/>
        </p:nvSpPr>
        <p:spPr>
          <a:xfrm xmlns:a="http://schemas.openxmlformats.org/drawingml/2006/main">
            <a:off x="762000" y="55626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99E42"/>
                </a:solidFill>
                <a:latin typeface="Aptos"/>
                <a:ea typeface="Aptos"/>
                <a:cs typeface="Aptos"/>
              </a:defRPr>
            </a:pPr>
            <a:r>
              <a:rPr sz="1125" b="1" i="0">
                <a:solidFill>
                  <a:srgbClr val="C99E42"/>
                </a:solidFill>
                <a:latin typeface="Aptos"/>
                <a:ea typeface="Aptos"/>
                <a:cs typeface="Aptos"/>
              </a:rPr>
              <a:t>READY FOR A LIVE DEMO</a:t>
            </a:r>
          </a:p>
        </p:txBody>
      </p:sp>
    </p:spTree>
    <p:extLst>
      <p:ext uri="{BB962C8B-B14F-4D97-AF65-F5344CB8AC3E}">
        <p14:creationId xmlns:p14="http://schemas.microsoft.com/office/powerpoint/2010/main" val="1723770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2026-08-11T19:57:46.2120000Z</dcterms:created>
  <dcterms:modified xsi:type="dcterms:W3CDTF">2026-08-11T19:57:46.2130000Z</dcterms:modified>
</coreProperties>
</file>