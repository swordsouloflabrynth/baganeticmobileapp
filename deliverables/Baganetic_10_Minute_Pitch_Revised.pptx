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5b1293656f4f3e" /><Relationship Type="http://schemas.openxmlformats.org/officeDocument/2006/relationships/extended-properties" Target="/docProps/app.xml" Id="R786884bcc5994b3a" /><Relationship Type="http://schemas.openxmlformats.org/officeDocument/2006/relationships/officeDocument" Target="/ppt/presentation.xml" Id="R9379cbd2a29f4cbc" /></Relationships>
</file>

<file path=ppt/presentation.xml><?xml version="1.0" encoding="utf-8"?>
<p:presentation xmlns:p="http://schemas.openxmlformats.org/presentationml/2006/main">
  <p:sldMasterIdLst>
    <p:sldMasterId xmlns:r="http://schemas.openxmlformats.org/officeDocument/2006/relationships" id="2147483648" r:id="R10b8da7c37f941d7"/>
  </p:sldMasterIdLst>
  <p:notesMasterIdLst>
    <p:notesMasterId xmlns:r="http://schemas.openxmlformats.org/officeDocument/2006/relationships" r:id="R4112489e395b4fd4"/>
  </p:notesMasterIdLst>
  <p:sldIdLst>
    <p:sldId xmlns:r="http://schemas.openxmlformats.org/officeDocument/2006/relationships" id="256" r:id="Rff34f866df824a3d"/>
    <p:sldId xmlns:r="http://schemas.openxmlformats.org/officeDocument/2006/relationships" id="257" r:id="R99fc8e0c05914e15"/>
    <p:sldId xmlns:r="http://schemas.openxmlformats.org/officeDocument/2006/relationships" id="258" r:id="R3a98397418274029"/>
    <p:sldId xmlns:r="http://schemas.openxmlformats.org/officeDocument/2006/relationships" id="259" r:id="Rf58630ec193b4fba"/>
    <p:sldId xmlns:r="http://schemas.openxmlformats.org/officeDocument/2006/relationships" id="260" r:id="R28e7e78bcd424cd0"/>
    <p:sldId xmlns:r="http://schemas.openxmlformats.org/officeDocument/2006/relationships" id="261" r:id="R0254c579c3f04ea6"/>
    <p:sldId xmlns:r="http://schemas.openxmlformats.org/officeDocument/2006/relationships" id="262" r:id="Rbecdb576ce364118"/>
    <p:sldId xmlns:r="http://schemas.openxmlformats.org/officeDocument/2006/relationships" id="263" r:id="R0ddc4884e35840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996c409a104145" /><Relationship Type="http://schemas.openxmlformats.org/officeDocument/2006/relationships/slideMaster" Target="/ppt/slideMasters/slideMaster1.xml" Id="R10b8da7c37f941d7" /><Relationship Type="http://schemas.openxmlformats.org/officeDocument/2006/relationships/notesMaster" Target="/ppt/notesMasters/notesMaster1.xml" Id="R4112489e395b4fd4" /><Relationship Type="http://schemas.openxmlformats.org/officeDocument/2006/relationships/presProps" Target="/ppt/presProps.xml" Id="R64460ff6ee0842de" /><Relationship Type="http://schemas.openxmlformats.org/officeDocument/2006/relationships/tableStyles" Target="/ppt/tableStyles.xml" Id="Rb5f43c198aa94748" /><Relationship Type="http://schemas.openxmlformats.org/officeDocument/2006/relationships/slide" Target="/ppt/slides/slide1.xml" Id="Rff34f866df824a3d" /><Relationship Type="http://schemas.openxmlformats.org/officeDocument/2006/relationships/slide" Target="/ppt/slides/slide2.xml" Id="R99fc8e0c05914e15" /><Relationship Type="http://schemas.openxmlformats.org/officeDocument/2006/relationships/slide" Target="/ppt/slides/slide3.xml" Id="R3a98397418274029" /><Relationship Type="http://schemas.openxmlformats.org/officeDocument/2006/relationships/slide" Target="/ppt/slides/slide4.xml" Id="Rf58630ec193b4fba" /><Relationship Type="http://schemas.openxmlformats.org/officeDocument/2006/relationships/slide" Target="/ppt/slides/slide5.xml" Id="R28e7e78bcd424cd0" /><Relationship Type="http://schemas.openxmlformats.org/officeDocument/2006/relationships/slide" Target="/ppt/slides/slide6.xml" Id="R0254c579c3f04ea6" /><Relationship Type="http://schemas.openxmlformats.org/officeDocument/2006/relationships/slide" Target="/ppt/slides/slide7.xml" Id="Rbecdb576ce364118" /><Relationship Type="http://schemas.openxmlformats.org/officeDocument/2006/relationships/slide" Target="/ppt/slides/slide8.xml" Id="R0ddc4884e35840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58562cb3d4a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f0b833b706468a" /><Relationship Type="http://schemas.openxmlformats.org/officeDocument/2006/relationships/notesMaster" Target="/ppt/notesMasters/notesMaster1.xml" Id="Rec5f81613e8b4e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433b59b5dd4d0c" /><Relationship Type="http://schemas.openxmlformats.org/officeDocument/2006/relationships/notesMaster" Target="/ppt/notesMasters/notesMaster1.xml" Id="R0197cfe755e048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8b6cb653594443" /><Relationship Type="http://schemas.openxmlformats.org/officeDocument/2006/relationships/notesMaster" Target="/ppt/notesMasters/notesMaster1.xml" Id="R5c35dbdb6d3041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3ca407bfdf48dd" /><Relationship Type="http://schemas.openxmlformats.org/officeDocument/2006/relationships/notesMaster" Target="/ppt/notesMasters/notesMaster1.xml" Id="R7d7105279ba243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dd7303f6294a56" /><Relationship Type="http://schemas.openxmlformats.org/officeDocument/2006/relationships/notesMaster" Target="/ppt/notesMasters/notesMaster1.xml" Id="R2a23213680d846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1a8ee4b1484628" /><Relationship Type="http://schemas.openxmlformats.org/officeDocument/2006/relationships/notesMaster" Target="/ppt/notesMasters/notesMaster1.xml" Id="Ra29b4264baa64a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ae3c8b1fc84e4d" /><Relationship Type="http://schemas.openxmlformats.org/officeDocument/2006/relationships/notesMaster" Target="/ppt/notesMasters/notesMaster1.xml" Id="R41dcca55e4c64c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968551ff6444be" /><Relationship Type="http://schemas.openxmlformats.org/officeDocument/2006/relationships/notesMaster" Target="/ppt/notesMasters/notesMaster1.xml" Id="R9e546ba8a8694c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promise: Baganetic helps a visitor move from curiosity to a better-planned day in Bagan. This is a working Android app, not only a concept.</a:t>
            </a:r>
          </a:p>
          <a:p xmlns:a="http://schemas.openxmlformats.org/drawingml/2006/main">
            <a:r>
              <a:t/>
            </a:r>
          </a:p>
          <a:p xmlns:a="http://schemas.openxmlformats.org/drawingml/2006/main">
            <a:r>
              <a:t>[Sources]</a:t>
            </a:r>
          </a:p>
          <a:p xmlns:a="http://schemas.openxmlformats.org/drawingml/2006/main">
            <a:r>
              <a:t>- Project asset: assets/images/stitch/bagan_sunrise.jpg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traveller problem clearly: planning a Bagan day often means jumping between maps, web searches, saved notes, and social advice. The issue is not a lack of information; it is that the journey is disconnected.</a:t>
            </a:r>
          </a:p>
          <a:p xmlns:a="http://schemas.openxmlformats.org/drawingml/2006/main">
            <a:r>
              <a:t/>
            </a:r>
          </a:p>
          <a:p xmlns:a="http://schemas.openxmlformats.org/drawingml/2006/main">
            <a:r>
              <a:t>[Sources]</a:t>
            </a:r>
          </a:p>
          <a:p xmlns:a="http://schemas.openxmlformats.org/drawingml/2006/main">
            <a:r>
              <a:t>- Project asset: assets/images/stitch/shwesandaw_postcard.jpg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Baganetic as the answer: one place to discover heritage, save meaningful sites, and move into practical planning. The next two slides show the main feature groups.</a:t>
            </a:r>
          </a:p>
          <a:p xmlns:a="http://schemas.openxmlformats.org/drawingml/2006/main">
            <a:r>
              <a:t/>
            </a:r>
          </a:p>
          <a:p xmlns:a="http://schemas.openxmlformats.org/drawingml/2006/main">
            <a:r>
              <a:t>[Sources]</a:t>
            </a:r>
          </a:p>
          <a:p xmlns:a="http://schemas.openxmlformats.org/drawingml/2006/main">
            <a:r>
              <a:t>- Android screenshots: self-captured from the Baganetic running build on a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one is practical planning. Point out the map markers, Browse, Shortest, and Plan Trip modes. Emphasize that the same app that inspires discovery also helps the traveller act on it.</a:t>
            </a:r>
          </a:p>
          <a:p xmlns:a="http://schemas.openxmlformats.org/drawingml/2006/main">
            <a:r>
              <a:t/>
            </a:r>
          </a:p>
          <a:p xmlns:a="http://schemas.openxmlformats.org/drawingml/2006/main">
            <a:r>
              <a:t>[Sources]</a:t>
            </a:r>
          </a:p>
          <a:p xmlns:a="http://schemas.openxmlformats.org/drawingml/2006/main">
            <a:r>
              <a:t>- Android screenshot: self-captured from the Baganetic running build on a Galaxy A56, 12 Aug 2026.</a:t>
            </a:r>
          </a:p>
          <a:p xmlns:a="http://schemas.openxmlformats.org/drawingml/2006/main">
            <a:r>
              <a:t>- Map tiles: OpenStreetMap-compatible public tile services, rendered in the app.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two is continuity. Explain that saving a site is not an isolated action: it can become part of a journey, a map route, a profile, and a conversation with other travellers.</a:t>
            </a:r>
          </a:p>
          <a:p xmlns:a="http://schemas.openxmlformats.org/drawingml/2006/main">
            <a:r>
              <a:t/>
            </a:r>
          </a:p>
          <a:p xmlns:a="http://schemas.openxmlformats.org/drawingml/2006/main">
            <a:r>
              <a:t>[Sources]</a:t>
            </a:r>
          </a:p>
          <a:p xmlns:a="http://schemas.openxmlformats.org/drawingml/2006/main">
            <a:r>
              <a:t>- Android screenshots: self-captured from the Baganetic running build on a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technical explanation short. Flutter delivers the mobile experience; Firebase handles identity and shared data; map services support exploration; NVIDIA AI powers the guide. Then move immediately to the working app.</a:t>
            </a:r>
          </a:p>
          <a:p xmlns:a="http://schemas.openxmlformats.org/drawingml/2006/main">
            <a:r>
              <a:t/>
            </a:r>
          </a:p>
          <a:p xmlns:a="http://schemas.openxmlformats.org/drawingml/2006/main">
            <a:r>
              <a:t>[Sources]</a:t>
            </a:r>
          </a:p>
          <a:p xmlns:a="http://schemas.openxmlformats.org/drawingml/2006/main">
            <a:r>
              <a:t>- Stack reflects the Baganetic implementation in this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handoff to the live demo. Show the flow: Explore a pagoda, Save it, Plan a journey, Navigate on the map, then show the AI guide or community. Spend three to four minutes in the app.</a:t>
            </a:r>
          </a:p>
          <a:p xmlns:a="http://schemas.openxmlformats.org/drawingml/2006/main">
            <a:r>
              <a:t/>
            </a:r>
          </a:p>
          <a:p xmlns:a="http://schemas.openxmlformats.org/drawingml/2006/main">
            <a:r>
              <a:t>[Sources]</a:t>
            </a:r>
          </a:p>
          <a:p xmlns:a="http://schemas.openxmlformats.org/drawingml/2006/main">
            <a:r>
              <a:t>- Project asset: assets/images/stitch/ananda_postcard.jpg (Baganetic workspace).</a:t>
            </a:r>
          </a:p>
          <a:p xmlns:a="http://schemas.openxmlformats.org/drawingml/2006/main">
            <a:r>
              <a:t>- Physical-device validation: Baganetic Android arm64 build tested on Galaxy A56, 12 Aug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core takeaway: Baganetic turns fragmented planning into one more meaningful Bagan journey. Invite questions after the live demonstration.</a:t>
            </a:r>
          </a:p>
          <a:p xmlns:a="http://schemas.openxmlformats.org/drawingml/2006/main">
            <a:r>
              <a:t/>
            </a:r>
          </a:p>
          <a:p xmlns:a="http://schemas.openxmlformats.org/drawingml/2006/main">
            <a:r>
              <a:t>[Sources]</a:t>
            </a:r>
          </a:p>
          <a:p xmlns:a="http://schemas.openxmlformats.org/drawingml/2006/main">
            <a:r>
              <a:t>- Project asset: assets/images/stitch/bagan_sunrise.jpg (Baganetic workspace).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c4c9ca909143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1c10189014fbd" /><Relationship Type="http://schemas.openxmlformats.org/officeDocument/2006/relationships/slideLayout" Target="/ppt/slideLayouts/slideLayout1.xml" Id="Rd1afd2d87cb648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fd2d87cb648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4fcf973e1848f2" /><Relationship Type="http://schemas.openxmlformats.org/officeDocument/2006/relationships/image" Target="/ppt/media/image.jpeg" Id="Re0ea06e841ec4f2b" /><Relationship Type="http://schemas.openxmlformats.org/officeDocument/2006/relationships/notesSlide" Target="/ppt/notesSlides/notesSlide1.xml" Id="R2cb06a441c884c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f7ccd53f934d99" /><Relationship Type="http://schemas.openxmlformats.org/officeDocument/2006/relationships/image" Target="/ppt/media/image2.jpeg" Id="R322825cbbc4c4d14" /><Relationship Type="http://schemas.openxmlformats.org/officeDocument/2006/relationships/notesSlide" Target="/ppt/notesSlides/notesSlide2.xml" Id="R70d4fde0cc6d43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61183ac5ef48d5" /><Relationship Type="http://schemas.openxmlformats.org/officeDocument/2006/relationships/image" Target="/ppt/media/image.png" Id="Rbcfdbf525b284fea" /><Relationship Type="http://schemas.openxmlformats.org/officeDocument/2006/relationships/image" Target="/ppt/media/image2.png" Id="Rdb440626de6d4dd5" /><Relationship Type="http://schemas.openxmlformats.org/officeDocument/2006/relationships/notesSlide" Target="/ppt/notesSlides/notesSlide3.xml" Id="R66be3a7d6bf54a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ed0d0065f84b38" /><Relationship Type="http://schemas.openxmlformats.org/officeDocument/2006/relationships/image" Target="/ppt/media/image3.png" Id="R31f9c27da6c54c32" /><Relationship Type="http://schemas.openxmlformats.org/officeDocument/2006/relationships/notesSlide" Target="/ppt/notesSlides/notesSlide4.xml" Id="R78a2385880b74a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05a52b191140e7" /><Relationship Type="http://schemas.openxmlformats.org/officeDocument/2006/relationships/image" Target="/ppt/media/image4.png" Id="Re16a00b8a5d34b5f" /><Relationship Type="http://schemas.openxmlformats.org/officeDocument/2006/relationships/image" Target="/ppt/media/image5.png" Id="R3da50b8744134467" /><Relationship Type="http://schemas.openxmlformats.org/officeDocument/2006/relationships/notesSlide" Target="/ppt/notesSlides/notesSlide5.xml" Id="Ra685add0808448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3deb2946e94b56" /><Relationship Type="http://schemas.openxmlformats.org/officeDocument/2006/relationships/notesSlide" Target="/ppt/notesSlides/notesSlide6.xml" Id="R5c0c40b4365f45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6b5e9a517e4049" /><Relationship Type="http://schemas.openxmlformats.org/officeDocument/2006/relationships/image" Target="/ppt/media/image3.jpeg" Id="R517d59b7cd3343cc" /><Relationship Type="http://schemas.openxmlformats.org/officeDocument/2006/relationships/notesSlide" Target="/ppt/notesSlides/notesSlide7.xml" Id="Re32ba83d25ca49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e903254c2645d4" /><Relationship Type="http://schemas.openxmlformats.org/officeDocument/2006/relationships/image" Target="/ppt/media/image4.jpeg" Id="Rc963ec0cf5ca4a3c" /><Relationship Type="http://schemas.openxmlformats.org/officeDocument/2006/relationships/notesSlide" Target="/ppt/notesSlides/notesSlide8.xml" Id="R99a9babc3d72428e" /></Relationships>
</file>

<file path=ppt/slides/slide1.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0ea06e841ec4f2b"/>
          <a:srcRect xmlns:a="http://schemas.openxmlformats.org/drawingml/2006/main" l="0" t="31158" r="0" b="3115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8B2B49-7731-4ACD-821A-F65136754E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140D">
              <a:alpha val="72157"/>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D9F6CA-B6BD-4E26-80CF-4CE74A6991E7}"/>
              </a:ext>
            </a:extLst>
          </p:cNvPr>
          <p:cNvSpPr>
            <a:spLocks xmlns:a="http://schemas.openxmlformats.org/drawingml/2006/main" noGrp="1"/>
          </p:cNvSpPr>
          <p:nvPr/>
        </p:nvSpPr>
        <p:spPr>
          <a:xfrm xmlns:a="http://schemas.openxmlformats.org/drawingml/2006/main">
            <a:off x="723900" y="7048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99E42"/>
                </a:solidFill>
                <a:latin typeface="Aptos"/>
                <a:ea typeface="Aptos"/>
                <a:cs typeface="Aptos"/>
              </a:defRPr>
            </a:pPr>
            <a:r>
              <a:rPr sz="1350" b="1" i="0">
                <a:solidFill>
                  <a:srgbClr val="C99E42"/>
                </a:solidFill>
                <a:latin typeface="Aptos"/>
                <a:ea typeface="Aptos"/>
                <a:cs typeface="Aptos"/>
              </a:rPr>
              <a:t>BAGANETIC</a:t>
            </a:r>
          </a:p>
        </p:txBody>
      </p:sp>
      <p:sp>
        <p:nvSpPr>
          <p:cNvPr id="4" name="">
            <a:extLst xmlns:a="http://schemas.openxmlformats.org/drawingml/2006/main">
              <a:ext uri="{FF2B5EF4-FFF2-40B4-BE49-F238E27FC236}">
                <a16:creationId xmlns:a16="http://schemas.microsoft.com/office/drawing/2014/main" id="{33CBAA40-EA18-40E8-BFAE-9C16E8599966}"/>
              </a:ext>
            </a:extLst>
          </p:cNvPr>
          <p:cNvSpPr>
            <a:spLocks xmlns:a="http://schemas.openxmlformats.org/drawingml/2006/main" noGrp="1"/>
          </p:cNvSpPr>
          <p:nvPr/>
        </p:nvSpPr>
        <p:spPr>
          <a:xfrm xmlns:a="http://schemas.openxmlformats.org/drawingml/2006/main">
            <a:off x="723900" y="1952625"/>
            <a:ext cx="7048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i="0">
                <a:solidFill>
                  <a:srgbClr val="FFFFFF"/>
                </a:solidFill>
                <a:latin typeface="Georgia"/>
                <a:ea typeface="Georgia"/>
                <a:cs typeface="Georgia"/>
              </a:defRPr>
            </a:pPr>
            <a:r>
              <a:rPr sz="4800" b="1" i="0">
                <a:solidFill>
                  <a:srgbClr val="FFFFFF"/>
                </a:solidFill>
                <a:latin typeface="Georgia"/>
                <a:ea typeface="Georgia"/>
                <a:cs typeface="Georgia"/>
              </a:rPr>
              <a:t>A more meaningful</a:t>
            </a:r>
          </a:p>
          <a:p xmlns:a="http://schemas.openxmlformats.org/drawingml/2006/main">
            <a:pPr algn="l">
              <a:buNone/>
              <a:defRPr sz="4800" b="1" i="0">
                <a:solidFill>
                  <a:srgbClr val="FFFFFF"/>
                </a:solidFill>
                <a:latin typeface="Georgia"/>
                <a:ea typeface="Georgia"/>
                <a:cs typeface="Georgia"/>
              </a:defRPr>
            </a:pPr>
            <a:r>
              <a:rPr sz="4800" b="1" i="0">
                <a:solidFill>
                  <a:srgbClr val="FFFFFF"/>
                </a:solidFill>
                <a:latin typeface="Georgia"/>
                <a:ea typeface="Georgia"/>
                <a:cs typeface="Georgia"/>
              </a:rPr>
              <a:t>way to explore Bagan</a:t>
            </a:r>
          </a:p>
        </p:txBody>
      </p:sp>
      <p:sp>
        <p:nvSpPr>
          <p:cNvPr id="5" name="">
            <a:extLst xmlns:a="http://schemas.openxmlformats.org/drawingml/2006/main">
              <a:ext uri="{FF2B5EF4-FFF2-40B4-BE49-F238E27FC236}">
                <a16:creationId xmlns:a16="http://schemas.microsoft.com/office/drawing/2014/main" id="{A5D8A544-6131-4B98-9D02-6BC26B778D6B}"/>
              </a:ext>
            </a:extLst>
          </p:cNvPr>
          <p:cNvSpPr>
            <a:spLocks xmlns:a="http://schemas.openxmlformats.org/drawingml/2006/main" noGrp="1"/>
          </p:cNvSpPr>
          <p:nvPr/>
        </p:nvSpPr>
        <p:spPr>
          <a:xfrm xmlns:a="http://schemas.openxmlformats.org/drawingml/2006/main">
            <a:off x="762000" y="4333875"/>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F7EBDD"/>
                </a:solidFill>
                <a:latin typeface="Aptos"/>
                <a:ea typeface="Aptos"/>
                <a:cs typeface="Aptos"/>
              </a:defRPr>
            </a:pPr>
            <a:r>
              <a:rPr sz="1800" b="0" i="0">
                <a:solidFill>
                  <a:srgbClr val="F7EBDD"/>
                </a:solidFill>
                <a:latin typeface="Aptos"/>
                <a:ea typeface="Aptos"/>
                <a:cs typeface="Aptos"/>
              </a:rPr>
              <a:t>A working mobile companion for heritage discovery, trip planning, and local travel context.</a:t>
            </a:r>
          </a:p>
        </p:txBody>
      </p:sp>
      <p:sp>
        <p:nvSpPr>
          <p:cNvPr id="6" name="">
            <a:extLst xmlns:a="http://schemas.openxmlformats.org/drawingml/2006/main">
              <a:ext uri="{FF2B5EF4-FFF2-40B4-BE49-F238E27FC236}">
                <a16:creationId xmlns:a16="http://schemas.microsoft.com/office/drawing/2014/main" id="{7C4D7178-1C0B-41D5-AE1E-1229C5829DA3}"/>
              </a:ext>
            </a:extLst>
          </p:cNvPr>
          <p:cNvSpPr>
            <a:spLocks xmlns:a="http://schemas.openxmlformats.org/drawingml/2006/main" noGrp="1"/>
          </p:cNvSpPr>
          <p:nvPr/>
        </p:nvSpPr>
        <p:spPr>
          <a:xfrm xmlns:a="http://schemas.openxmlformats.org/drawingml/2006/main">
            <a:off x="762000" y="5429250"/>
            <a:ext cx="219075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7" name="">
            <a:extLst xmlns:a="http://schemas.openxmlformats.org/drawingml/2006/main">
              <a:ext uri="{FF2B5EF4-FFF2-40B4-BE49-F238E27FC236}">
                <a16:creationId xmlns:a16="http://schemas.microsoft.com/office/drawing/2014/main" id="{E7F798F9-A8C3-48E2-9A8A-5BE44DF3636C}"/>
              </a:ext>
            </a:extLst>
          </p:cNvPr>
          <p:cNvSpPr>
            <a:spLocks xmlns:a="http://schemas.openxmlformats.org/drawingml/2006/main" noGrp="1"/>
          </p:cNvSpPr>
          <p:nvPr/>
        </p:nvSpPr>
        <p:spPr>
          <a:xfrm xmlns:a="http://schemas.openxmlformats.org/drawingml/2006/main">
            <a:off x="762000" y="56197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FFFFFF"/>
                </a:solidFill>
                <a:latin typeface="Aptos"/>
                <a:ea typeface="Aptos"/>
                <a:cs typeface="Aptos"/>
              </a:defRPr>
            </a:pPr>
            <a:r>
              <a:rPr sz="975" b="1" i="0">
                <a:solidFill>
                  <a:srgbClr val="FFFFFF"/>
                </a:solidFill>
                <a:latin typeface="Aptos"/>
                <a:ea typeface="Aptos"/>
                <a:cs typeface="Aptos"/>
              </a:rPr>
              <a:t>HERITAGE TRAVEL COMPANION  •  10-MINUTE PITCH</a:t>
            </a:r>
          </a:p>
        </p:txBody>
      </p:sp>
    </p:spTree>
    <p:extLst>
      <p:ext uri="{BB962C8B-B14F-4D97-AF65-F5344CB8AC3E}">
        <p14:creationId xmlns:p14="http://schemas.microsoft.com/office/powerpoint/2010/main" val="1406696985"/>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496FB4-74FA-4A28-B271-6B3DA76CDE17}"/>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B65331"/>
                </a:solidFill>
                <a:latin typeface="Aptos"/>
                <a:ea typeface="Aptos"/>
                <a:cs typeface="Aptos"/>
              </a:defRPr>
            </a:pPr>
            <a:r>
              <a:rPr sz="975" b="1" i="0">
                <a:solidFill>
                  <a:srgbClr val="B65331"/>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C7B0BAD3-FE52-4240-9CC1-F8EF3946FD3E}"/>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806F65"/>
                </a:solidFill>
                <a:latin typeface="Aptos"/>
                <a:ea typeface="Aptos"/>
                <a:cs typeface="Aptos"/>
              </a:defRPr>
            </a:pPr>
            <a:r>
              <a:rPr sz="975" b="1" i="0">
                <a:solidFill>
                  <a:srgbClr val="806F65"/>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D01FFDB7-C6C1-4DAE-AD05-E795A97F0086}"/>
              </a:ext>
            </a:extLst>
          </p:cNvPr>
          <p:cNvSpPr>
            <a:spLocks xmlns:a="http://schemas.openxmlformats.org/drawingml/2006/main" noGrp="1"/>
          </p:cNvSpPr>
          <p:nvPr/>
        </p:nvSpPr>
        <p:spPr>
          <a:xfrm xmlns:a="http://schemas.openxmlformats.org/drawingml/2006/main">
            <a:off x="685800" y="1028700"/>
            <a:ext cx="5524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2B1D14"/>
                </a:solidFill>
                <a:latin typeface="Georgia"/>
                <a:ea typeface="Georgia"/>
                <a:cs typeface="Georgia"/>
              </a:defRPr>
            </a:pPr>
            <a:r>
              <a:rPr sz="3600" b="1" i="0">
                <a:solidFill>
                  <a:srgbClr val="2B1D14"/>
                </a:solidFill>
                <a:latin typeface="Georgia"/>
                <a:ea typeface="Georgia"/>
                <a:cs typeface="Georgia"/>
              </a:rPr>
              <a:t>Planning Bagan</a:t>
            </a:r>
          </a:p>
          <a:p xmlns:a="http://schemas.openxmlformats.org/drawingml/2006/main">
            <a:pPr algn="l">
              <a:buNone/>
              <a:defRPr sz="3600" b="1" i="0">
                <a:solidFill>
                  <a:srgbClr val="2B1D14"/>
                </a:solidFill>
                <a:latin typeface="Georgia"/>
                <a:ea typeface="Georgia"/>
                <a:cs typeface="Georgia"/>
              </a:defRPr>
            </a:pPr>
            <a:r>
              <a:rPr sz="3600" b="1" i="0">
                <a:solidFill>
                  <a:srgbClr val="2B1D14"/>
                </a:solidFill>
                <a:latin typeface="Georgia"/>
                <a:ea typeface="Georgia"/>
                <a:cs typeface="Georgia"/>
              </a:rPr>
              <a:t>still means</a:t>
            </a:r>
          </a:p>
          <a:p xmlns:a="http://schemas.openxmlformats.org/drawingml/2006/main">
            <a:pPr algn="l">
              <a:buNone/>
              <a:defRPr sz="3600" b="1" i="0">
                <a:solidFill>
                  <a:srgbClr val="2B1D14"/>
                </a:solidFill>
                <a:latin typeface="Georgia"/>
                <a:ea typeface="Georgia"/>
                <a:cs typeface="Georgia"/>
              </a:defRPr>
            </a:pPr>
            <a:r>
              <a:rPr sz="3600" b="1" i="0">
                <a:solidFill>
                  <a:srgbClr val="2B1D14"/>
                </a:solidFill>
                <a:latin typeface="Georgia"/>
                <a:ea typeface="Georgia"/>
                <a:cs typeface="Georgia"/>
              </a:rPr>
              <a:t>switching tools.</a:t>
            </a:r>
          </a:p>
        </p:txBody>
      </p:sp>
      <p:sp>
        <p:nvSpPr>
          <p:cNvPr id="4" name="">
            <a:extLst xmlns:a="http://schemas.openxmlformats.org/drawingml/2006/main">
              <a:ext uri="{FF2B5EF4-FFF2-40B4-BE49-F238E27FC236}">
                <a16:creationId xmlns:a16="http://schemas.microsoft.com/office/drawing/2014/main" id="{6AC80686-F502-44AE-BC3D-53DB6C7266E1}"/>
              </a:ext>
            </a:extLst>
          </p:cNvPr>
          <p:cNvSpPr>
            <a:spLocks xmlns:a="http://schemas.openxmlformats.org/drawingml/2006/main" noGrp="1"/>
          </p:cNvSpPr>
          <p:nvPr/>
        </p:nvSpPr>
        <p:spPr>
          <a:xfrm xmlns:a="http://schemas.openxmlformats.org/drawingml/2006/main">
            <a:off x="685800" y="2762250"/>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i="0">
                <a:solidFill>
                  <a:srgbClr val="806F65"/>
                </a:solidFill>
                <a:latin typeface="Aptos"/>
                <a:ea typeface="Aptos"/>
                <a:cs typeface="Aptos"/>
              </a:defRPr>
            </a:pPr>
            <a:r>
              <a:rPr sz="1875" b="0" i="0">
                <a:solidFill>
                  <a:srgbClr val="806F65"/>
                </a:solidFill>
                <a:latin typeface="Aptos"/>
                <a:ea typeface="Aptos"/>
                <a:cs typeface="Aptos"/>
              </a:rPr>
              <a:t>Travellers move between maps, search, saved notes, and social advice—without one connected journey.</a:t>
            </a:r>
          </a:p>
        </p:txBody>
      </p:sp>
      <p:sp>
        <p:nvSpPr>
          <p:cNvPr id="5" name="">
            <a:extLst xmlns:a="http://schemas.openxmlformats.org/drawingml/2006/main">
              <a:ext uri="{FF2B5EF4-FFF2-40B4-BE49-F238E27FC236}">
                <a16:creationId xmlns:a16="http://schemas.microsoft.com/office/drawing/2014/main" id="{A5593752-D085-44EF-81B8-203A7F7D8C69}"/>
              </a:ext>
            </a:extLst>
          </p:cNvPr>
          <p:cNvSpPr>
            <a:spLocks xmlns:a="http://schemas.openxmlformats.org/drawingml/2006/main" noGrp="1"/>
          </p:cNvSpPr>
          <p:nvPr/>
        </p:nvSpPr>
        <p:spPr>
          <a:xfrm xmlns:a="http://schemas.openxmlformats.org/drawingml/2006/main">
            <a:off x="685800" y="4210050"/>
            <a:ext cx="470535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6" name="">
            <a:extLst xmlns:a="http://schemas.openxmlformats.org/drawingml/2006/main">
              <a:ext uri="{FF2B5EF4-FFF2-40B4-BE49-F238E27FC236}">
                <a16:creationId xmlns:a16="http://schemas.microsoft.com/office/drawing/2014/main" id="{A4C9894C-D74D-4F45-AB0F-DED43AC9C503}"/>
              </a:ext>
            </a:extLst>
          </p:cNvPr>
          <p:cNvSpPr>
            <a:spLocks xmlns:a="http://schemas.openxmlformats.org/drawingml/2006/main" noGrp="1"/>
          </p:cNvSpPr>
          <p:nvPr/>
        </p:nvSpPr>
        <p:spPr>
          <a:xfrm xmlns:a="http://schemas.openxmlformats.org/drawingml/2006/main">
            <a:off x="704850" y="4572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C99E42"/>
                </a:solidFill>
                <a:latin typeface="Aptos"/>
                <a:ea typeface="Aptos"/>
                <a:cs typeface="Aptos"/>
              </a:defRPr>
            </a:pPr>
            <a:r>
              <a:rPr sz="1125" b="1" i="0">
                <a:solidFill>
                  <a:srgbClr val="C99E42"/>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6BAD3468-5056-41D0-825C-EA9BC475301B}"/>
              </a:ext>
            </a:extLst>
          </p:cNvPr>
          <p:cNvSpPr>
            <a:spLocks xmlns:a="http://schemas.openxmlformats.org/drawingml/2006/main" noGrp="1"/>
          </p:cNvSpPr>
          <p:nvPr/>
        </p:nvSpPr>
        <p:spPr>
          <a:xfrm xmlns:a="http://schemas.openxmlformats.org/drawingml/2006/main">
            <a:off x="1257300" y="45529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2B1D14"/>
                </a:solidFill>
                <a:latin typeface="Aptos"/>
                <a:ea typeface="Aptos"/>
                <a:cs typeface="Aptos"/>
              </a:defRPr>
            </a:pPr>
            <a:r>
              <a:rPr sz="1500" b="1" i="0">
                <a:solidFill>
                  <a:srgbClr val="2B1D14"/>
                </a:solidFill>
                <a:latin typeface="Aptos"/>
                <a:ea typeface="Aptos"/>
                <a:cs typeface="Aptos"/>
              </a:rPr>
              <a:t>Discovery</a:t>
            </a:r>
          </a:p>
        </p:txBody>
      </p:sp>
      <p:sp>
        <p:nvSpPr>
          <p:cNvPr id="8" name="">
            <a:extLst xmlns:a="http://schemas.openxmlformats.org/drawingml/2006/main">
              <a:ext uri="{FF2B5EF4-FFF2-40B4-BE49-F238E27FC236}">
                <a16:creationId xmlns:a16="http://schemas.microsoft.com/office/drawing/2014/main" id="{E27A95FF-6369-4DDF-A795-2E98C273BB9D}"/>
              </a:ext>
            </a:extLst>
          </p:cNvPr>
          <p:cNvSpPr>
            <a:spLocks xmlns:a="http://schemas.openxmlformats.org/drawingml/2006/main" noGrp="1"/>
          </p:cNvSpPr>
          <p:nvPr/>
        </p:nvSpPr>
        <p:spPr>
          <a:xfrm xmlns:a="http://schemas.openxmlformats.org/drawingml/2006/main">
            <a:off x="257175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806F65"/>
                </a:solidFill>
                <a:latin typeface="Aptos"/>
                <a:ea typeface="Aptos"/>
                <a:cs typeface="Aptos"/>
              </a:defRPr>
            </a:pPr>
            <a:r>
              <a:rPr sz="1275" b="0" i="0">
                <a:solidFill>
                  <a:srgbClr val="806F65"/>
                </a:solidFill>
                <a:latin typeface="Aptos"/>
                <a:ea typeface="Aptos"/>
                <a:cs typeface="Aptos"/>
              </a:rPr>
              <a:t>Finding the right site often starts with scattered searches.</a:t>
            </a:r>
          </a:p>
        </p:txBody>
      </p:sp>
      <p:sp>
        <p:nvSpPr>
          <p:cNvPr id="9" name="">
            <a:extLst xmlns:a="http://schemas.openxmlformats.org/drawingml/2006/main">
              <a:ext uri="{FF2B5EF4-FFF2-40B4-BE49-F238E27FC236}">
                <a16:creationId xmlns:a16="http://schemas.microsoft.com/office/drawing/2014/main" id="{DA7C3A3B-6F9D-4EF9-9525-7191DD312F8F}"/>
              </a:ext>
            </a:extLst>
          </p:cNvPr>
          <p:cNvSpPr>
            <a:spLocks xmlns:a="http://schemas.openxmlformats.org/drawingml/2006/main" noGrp="1"/>
          </p:cNvSpPr>
          <p:nvPr/>
        </p:nvSpPr>
        <p:spPr>
          <a:xfrm xmlns:a="http://schemas.openxmlformats.org/drawingml/2006/main">
            <a:off x="704850" y="51435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C99E42"/>
                </a:solidFill>
                <a:latin typeface="Aptos"/>
                <a:ea typeface="Aptos"/>
                <a:cs typeface="Aptos"/>
              </a:defRPr>
            </a:pPr>
            <a:r>
              <a:rPr sz="1125" b="1" i="0">
                <a:solidFill>
                  <a:srgbClr val="C99E42"/>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95355249-A2AB-4EFD-9CE4-0F1D450738B5}"/>
              </a:ext>
            </a:extLst>
          </p:cNvPr>
          <p:cNvSpPr>
            <a:spLocks xmlns:a="http://schemas.openxmlformats.org/drawingml/2006/main" noGrp="1"/>
          </p:cNvSpPr>
          <p:nvPr/>
        </p:nvSpPr>
        <p:spPr>
          <a:xfrm xmlns:a="http://schemas.openxmlformats.org/drawingml/2006/main">
            <a:off x="1257300" y="5124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2B1D14"/>
                </a:solidFill>
                <a:latin typeface="Aptos"/>
                <a:ea typeface="Aptos"/>
                <a:cs typeface="Aptos"/>
              </a:defRPr>
            </a:pPr>
            <a:r>
              <a:rPr sz="1500" b="1" i="0">
                <a:solidFill>
                  <a:srgbClr val="2B1D14"/>
                </a:solidFill>
                <a:latin typeface="Aptos"/>
                <a:ea typeface="Aptos"/>
                <a:cs typeface="Aptos"/>
              </a:rPr>
              <a:t>Planning</a:t>
            </a:r>
          </a:p>
        </p:txBody>
      </p:sp>
      <p:sp>
        <p:nvSpPr>
          <p:cNvPr id="11" name="">
            <a:extLst xmlns:a="http://schemas.openxmlformats.org/drawingml/2006/main">
              <a:ext uri="{FF2B5EF4-FFF2-40B4-BE49-F238E27FC236}">
                <a16:creationId xmlns:a16="http://schemas.microsoft.com/office/drawing/2014/main" id="{B16F4816-4E59-430C-916A-A695C444255F}"/>
              </a:ext>
            </a:extLst>
          </p:cNvPr>
          <p:cNvSpPr>
            <a:spLocks xmlns:a="http://schemas.openxmlformats.org/drawingml/2006/main" noGrp="1"/>
          </p:cNvSpPr>
          <p:nvPr/>
        </p:nvSpPr>
        <p:spPr>
          <a:xfrm xmlns:a="http://schemas.openxmlformats.org/drawingml/2006/main">
            <a:off x="2571750" y="5143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806F65"/>
                </a:solidFill>
                <a:latin typeface="Aptos"/>
                <a:ea typeface="Aptos"/>
                <a:cs typeface="Aptos"/>
              </a:defRPr>
            </a:pPr>
            <a:r>
              <a:rPr sz="1275" b="0" i="0">
                <a:solidFill>
                  <a:srgbClr val="806F65"/>
                </a:solidFill>
                <a:latin typeface="Aptos"/>
                <a:ea typeface="Aptos"/>
                <a:cs typeface="Aptos"/>
              </a:rPr>
              <a:t>Routes, timing, and transport sit outside the heritage context.</a:t>
            </a:r>
          </a:p>
        </p:txBody>
      </p:sp>
      <p:sp>
        <p:nvSpPr>
          <p:cNvPr id="12" name="">
            <a:extLst xmlns:a="http://schemas.openxmlformats.org/drawingml/2006/main">
              <a:ext uri="{FF2B5EF4-FFF2-40B4-BE49-F238E27FC236}">
                <a16:creationId xmlns:a16="http://schemas.microsoft.com/office/drawing/2014/main" id="{56E486B6-5CFC-4C67-9203-E5E62B58DBC5}"/>
              </a:ext>
            </a:extLst>
          </p:cNvPr>
          <p:cNvSpPr>
            <a:spLocks xmlns:a="http://schemas.openxmlformats.org/drawingml/2006/main" noGrp="1"/>
          </p:cNvSpPr>
          <p:nvPr/>
        </p:nvSpPr>
        <p:spPr>
          <a:xfrm xmlns:a="http://schemas.openxmlformats.org/drawingml/2006/main">
            <a:off x="704850" y="57150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C99E42"/>
                </a:solidFill>
                <a:latin typeface="Aptos"/>
                <a:ea typeface="Aptos"/>
                <a:cs typeface="Aptos"/>
              </a:defRPr>
            </a:pPr>
            <a:r>
              <a:rPr sz="1125" b="1" i="0">
                <a:solidFill>
                  <a:srgbClr val="C99E42"/>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8DE7D411-588D-4D6E-BD3A-6B3B252E23BC}"/>
              </a:ext>
            </a:extLst>
          </p:cNvPr>
          <p:cNvSpPr>
            <a:spLocks xmlns:a="http://schemas.openxmlformats.org/drawingml/2006/main" noGrp="1"/>
          </p:cNvSpPr>
          <p:nvPr/>
        </p:nvSpPr>
        <p:spPr>
          <a:xfrm xmlns:a="http://schemas.openxmlformats.org/drawingml/2006/main">
            <a:off x="1257300" y="56959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2B1D14"/>
                </a:solidFill>
                <a:latin typeface="Aptos"/>
                <a:ea typeface="Aptos"/>
                <a:cs typeface="Aptos"/>
              </a:defRPr>
            </a:pPr>
            <a:r>
              <a:rPr sz="1500" b="1" i="0">
                <a:solidFill>
                  <a:srgbClr val="2B1D14"/>
                </a:solidFill>
                <a:latin typeface="Aptos"/>
                <a:ea typeface="Aptos"/>
                <a:cs typeface="Aptos"/>
              </a:rPr>
              <a:t>Context</a:t>
            </a:r>
          </a:p>
        </p:txBody>
      </p:sp>
      <p:sp>
        <p:nvSpPr>
          <p:cNvPr id="14" name="">
            <a:extLst xmlns:a="http://schemas.openxmlformats.org/drawingml/2006/main">
              <a:ext uri="{FF2B5EF4-FFF2-40B4-BE49-F238E27FC236}">
                <a16:creationId xmlns:a16="http://schemas.microsoft.com/office/drawing/2014/main" id="{7EDAF18E-2084-43B8-8529-F67186FEB57A}"/>
              </a:ext>
            </a:extLst>
          </p:cNvPr>
          <p:cNvSpPr>
            <a:spLocks xmlns:a="http://schemas.openxmlformats.org/drawingml/2006/main" noGrp="1"/>
          </p:cNvSpPr>
          <p:nvPr/>
        </p:nvSpPr>
        <p:spPr>
          <a:xfrm xmlns:a="http://schemas.openxmlformats.org/drawingml/2006/main">
            <a:off x="2571750" y="5715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806F65"/>
                </a:solidFill>
                <a:latin typeface="Aptos"/>
                <a:ea typeface="Aptos"/>
                <a:cs typeface="Aptos"/>
              </a:defRPr>
            </a:pPr>
            <a:r>
              <a:rPr sz="1275" b="0" i="0">
                <a:solidFill>
                  <a:srgbClr val="806F65"/>
                </a:solidFill>
                <a:latin typeface="Aptos"/>
                <a:ea typeface="Aptos"/>
                <a:cs typeface="Aptos"/>
              </a:rPr>
              <a:t>Stories and traveller advice are hard to carry into the visit.</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22825cbbc4c4d14"/>
          <a:srcRect xmlns:a="http://schemas.openxmlformats.org/drawingml/2006/main" l="1395" t="0" r="1395" b="0"/>
          <a:stretch xmlns:a="http://schemas.openxmlformats.org/drawingml/2006/main">
            <a:fillRect l="0" t="0" r="0" b="0"/>
          </a:stretch>
        </p:blipFill>
        <p:spPr>
          <a:xfrm xmlns:a="http://schemas.openxmlformats.org/drawingml/2006/main">
            <a:off x="7429500" y="1047750"/>
            <a:ext cx="3143250" cy="4333875"/>
          </a:xfrm>
          <a:prstGeom xmlns:a="http://schemas.openxmlformats.org/drawingml/2006/main" prst="roundRect">
            <a:avLst>
              <a:gd name="adj" fmla="val 4848"/>
            </a:avLst>
          </a:prstGeom>
        </p:spPr>
      </p:pic>
      <p:sp>
        <p:nvSpPr>
          <p:cNvPr id="16" name="">
            <a:extLst xmlns:a="http://schemas.openxmlformats.org/drawingml/2006/main">
              <a:ext uri="{FF2B5EF4-FFF2-40B4-BE49-F238E27FC236}">
                <a16:creationId xmlns:a16="http://schemas.microsoft.com/office/drawing/2014/main" id="{8FC8D158-388C-4FA1-A874-BD684678772D}"/>
              </a:ext>
            </a:extLst>
          </p:cNvPr>
          <p:cNvSpPr>
            <a:spLocks xmlns:a="http://schemas.openxmlformats.org/drawingml/2006/main" noGrp="1"/>
          </p:cNvSpPr>
          <p:nvPr/>
        </p:nvSpPr>
        <p:spPr>
          <a:xfrm xmlns:a="http://schemas.openxmlformats.org/drawingml/2006/main">
            <a:off x="7219950" y="556260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2B1D14"/>
                </a:solidFill>
                <a:latin typeface="Georgia"/>
                <a:ea typeface="Georgia"/>
                <a:cs typeface="Georgia"/>
              </a:defRPr>
            </a:pPr>
            <a:r>
              <a:rPr sz="1800" b="1" i="0">
                <a:solidFill>
                  <a:srgbClr val="2B1D14"/>
                </a:solidFill>
                <a:latin typeface="Georgia"/>
                <a:ea typeface="Georgia"/>
                <a:cs typeface="Georgia"/>
              </a:rPr>
              <a:t>More effort.</a:t>
            </a:r>
          </a:p>
          <a:p xmlns:a="http://schemas.openxmlformats.org/drawingml/2006/main">
            <a:pPr algn="ctr">
              <a:buNone/>
              <a:defRPr sz="1800" b="1" i="0">
                <a:solidFill>
                  <a:srgbClr val="2B1D14"/>
                </a:solidFill>
                <a:latin typeface="Georgia"/>
                <a:ea typeface="Georgia"/>
                <a:cs typeface="Georgia"/>
              </a:defRPr>
            </a:pPr>
            <a:r>
              <a:rPr sz="1800" b="1" i="0">
                <a:solidFill>
                  <a:srgbClr val="2B1D14"/>
                </a:solidFill>
                <a:latin typeface="Georgia"/>
                <a:ea typeface="Georgia"/>
                <a:cs typeface="Georgia"/>
              </a:rPr>
              <a:t>Less meaning.</a:t>
            </a:r>
          </a:p>
        </p:txBody>
      </p:sp>
      <p:sp>
        <p:nvSpPr>
          <p:cNvPr id="17" name="">
            <a:extLst xmlns:a="http://schemas.openxmlformats.org/drawingml/2006/main">
              <a:ext uri="{FF2B5EF4-FFF2-40B4-BE49-F238E27FC236}">
                <a16:creationId xmlns:a16="http://schemas.microsoft.com/office/drawing/2014/main" id="{C1BAFC93-0300-4BC9-9410-9605EED70144}"/>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8" name="">
            <a:extLst xmlns:a="http://schemas.openxmlformats.org/drawingml/2006/main">
              <a:ext uri="{FF2B5EF4-FFF2-40B4-BE49-F238E27FC236}">
                <a16:creationId xmlns:a16="http://schemas.microsoft.com/office/drawing/2014/main" id="{AB5B9F46-36F6-4834-9C73-6444E1D2A0B3}"/>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416106490"/>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2B44FA-5E42-4C99-AB36-A49F11B417CB}"/>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B65331"/>
                </a:solidFill>
                <a:latin typeface="Aptos"/>
                <a:ea typeface="Aptos"/>
                <a:cs typeface="Aptos"/>
              </a:defRPr>
            </a:pPr>
            <a:r>
              <a:rPr sz="975" b="1" i="0">
                <a:solidFill>
                  <a:srgbClr val="B65331"/>
                </a:solidFill>
                <a:latin typeface="Aptos"/>
                <a:ea typeface="Aptos"/>
                <a:cs typeface="Aptos"/>
              </a:rPr>
              <a:t>THE SOLUTION</a:t>
            </a:r>
          </a:p>
        </p:txBody>
      </p:sp>
      <p:sp>
        <p:nvSpPr>
          <p:cNvPr id="2" name="">
            <a:extLst xmlns:a="http://schemas.openxmlformats.org/drawingml/2006/main">
              <a:ext uri="{FF2B5EF4-FFF2-40B4-BE49-F238E27FC236}">
                <a16:creationId xmlns:a16="http://schemas.microsoft.com/office/drawing/2014/main" id="{E46BADB9-6E56-41BC-A2A7-BD1EDFCFEFA3}"/>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806F65"/>
                </a:solidFill>
                <a:latin typeface="Aptos"/>
                <a:ea typeface="Aptos"/>
                <a:cs typeface="Aptos"/>
              </a:defRPr>
            </a:pPr>
            <a:r>
              <a:rPr sz="975" b="1" i="0">
                <a:solidFill>
                  <a:srgbClr val="806F65"/>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B18EE330-142E-4327-9698-1FA56FD96909}"/>
              </a:ext>
            </a:extLst>
          </p:cNvPr>
          <p:cNvSpPr>
            <a:spLocks xmlns:a="http://schemas.openxmlformats.org/drawingml/2006/main" noGrp="1"/>
          </p:cNvSpPr>
          <p:nvPr/>
        </p:nvSpPr>
        <p:spPr>
          <a:xfrm xmlns:a="http://schemas.openxmlformats.org/drawingml/2006/main">
            <a:off x="685800" y="971550"/>
            <a:ext cx="5429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One app.</a:t>
            </a:r>
          </a:p>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One Bagan journey.</a:t>
            </a:r>
          </a:p>
        </p:txBody>
      </p:sp>
      <p:sp>
        <p:nvSpPr>
          <p:cNvPr id="4" name="">
            <a:extLst xmlns:a="http://schemas.openxmlformats.org/drawingml/2006/main">
              <a:ext uri="{FF2B5EF4-FFF2-40B4-BE49-F238E27FC236}">
                <a16:creationId xmlns:a16="http://schemas.microsoft.com/office/drawing/2014/main" id="{1CAF62DC-F3F9-4A77-97EB-D46877E6C623}"/>
              </a:ext>
            </a:extLst>
          </p:cNvPr>
          <p:cNvSpPr>
            <a:spLocks xmlns:a="http://schemas.openxmlformats.org/drawingml/2006/main" noGrp="1"/>
          </p:cNvSpPr>
          <p:nvPr/>
        </p:nvSpPr>
        <p:spPr>
          <a:xfrm xmlns:a="http://schemas.openxmlformats.org/drawingml/2006/main">
            <a:off x="685800" y="2400300"/>
            <a:ext cx="5143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806F65"/>
                </a:solidFill>
                <a:latin typeface="Aptos"/>
                <a:ea typeface="Aptos"/>
                <a:cs typeface="Aptos"/>
              </a:defRPr>
            </a:pPr>
            <a:r>
              <a:rPr sz="1725" b="0" i="0">
                <a:solidFill>
                  <a:srgbClr val="806F65"/>
                </a:solidFill>
                <a:latin typeface="Aptos"/>
                <a:ea typeface="Aptos"/>
                <a:cs typeface="Aptos"/>
              </a:rPr>
              <a:t>Baganetic brings discovery, saved places, routes, and local travel context into one clear mobile experience.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cfdbf525b284fea"/>
          <a:stretch xmlns:a="http://schemas.openxmlformats.org/drawingml/2006/main"/>
        </p:blipFill>
        <p:spPr>
          <a:xfrm xmlns:a="http://schemas.openxmlformats.org/drawingml/2006/main">
            <a:off x="6572250" y="922338"/>
            <a:ext cx="2076450" cy="4498975"/>
          </a:xfrm>
          <a:prstGeom xmlns:a="http://schemas.openxmlformats.org/drawingml/2006/main" prst="roundRect">
            <a:avLst>
              <a:gd name="adj" fmla="val 7339"/>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b440626de6d4dd5"/>
          <a:stretch xmlns:a="http://schemas.openxmlformats.org/drawingml/2006/main"/>
        </p:blipFill>
        <p:spPr>
          <a:xfrm xmlns:a="http://schemas.openxmlformats.org/drawingml/2006/main">
            <a:off x="9048750" y="922338"/>
            <a:ext cx="2076450" cy="4498975"/>
          </a:xfrm>
          <a:prstGeom xmlns:a="http://schemas.openxmlformats.org/drawingml/2006/main" prst="roundRect">
            <a:avLst>
              <a:gd name="adj" fmla="val 7339"/>
            </a:avLst>
          </a:prstGeom>
        </p:spPr>
      </p:pic>
      <p:sp>
        <p:nvSpPr>
          <p:cNvPr id="7" name="">
            <a:extLst xmlns:a="http://schemas.openxmlformats.org/drawingml/2006/main">
              <a:ext uri="{FF2B5EF4-FFF2-40B4-BE49-F238E27FC236}">
                <a16:creationId xmlns:a16="http://schemas.microsoft.com/office/drawing/2014/main" id="{41A73E69-ED34-471F-9CE5-5CA7651508BF}"/>
              </a:ext>
            </a:extLst>
          </p:cNvPr>
          <p:cNvSpPr>
            <a:spLocks xmlns:a="http://schemas.openxmlformats.org/drawingml/2006/main" noGrp="1"/>
          </p:cNvSpPr>
          <p:nvPr/>
        </p:nvSpPr>
        <p:spPr>
          <a:xfrm xmlns:a="http://schemas.openxmlformats.org/drawingml/2006/main">
            <a:off x="6858000" y="58293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i="0">
                <a:solidFill>
                  <a:srgbClr val="B65331"/>
                </a:solidFill>
                <a:latin typeface="Aptos"/>
                <a:ea typeface="Aptos"/>
                <a:cs typeface="Aptos"/>
              </a:defRPr>
            </a:pPr>
            <a:r>
              <a:rPr sz="900" b="1" i="0">
                <a:solidFill>
                  <a:srgbClr val="B65331"/>
                </a:solidFill>
                <a:latin typeface="Aptos"/>
                <a:ea typeface="Aptos"/>
                <a:cs typeface="Aptos"/>
              </a:rPr>
              <a:t>DISCOVER</a:t>
            </a:r>
          </a:p>
        </p:txBody>
      </p:sp>
      <p:sp>
        <p:nvSpPr>
          <p:cNvPr id="8" name="">
            <a:extLst xmlns:a="http://schemas.openxmlformats.org/drawingml/2006/main">
              <a:ext uri="{FF2B5EF4-FFF2-40B4-BE49-F238E27FC236}">
                <a16:creationId xmlns:a16="http://schemas.microsoft.com/office/drawing/2014/main" id="{FF436D20-430B-4C7E-8907-117D9CA67209}"/>
              </a:ext>
            </a:extLst>
          </p:cNvPr>
          <p:cNvSpPr>
            <a:spLocks xmlns:a="http://schemas.openxmlformats.org/drawingml/2006/main" noGrp="1"/>
          </p:cNvSpPr>
          <p:nvPr/>
        </p:nvSpPr>
        <p:spPr>
          <a:xfrm xmlns:a="http://schemas.openxmlformats.org/drawingml/2006/main">
            <a:off x="9048750" y="5829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i="0">
                <a:solidFill>
                  <a:srgbClr val="B65331"/>
                </a:solidFill>
                <a:latin typeface="Aptos"/>
                <a:ea typeface="Aptos"/>
                <a:cs typeface="Aptos"/>
              </a:defRPr>
            </a:pPr>
            <a:r>
              <a:rPr sz="900" b="1" i="0">
                <a:solidFill>
                  <a:srgbClr val="B65331"/>
                </a:solidFill>
                <a:latin typeface="Aptos"/>
                <a:ea typeface="Aptos"/>
                <a:cs typeface="Aptos"/>
              </a:rPr>
              <a:t>EXPLORE SITES</a:t>
            </a:r>
          </a:p>
        </p:txBody>
      </p:sp>
      <p:sp>
        <p:nvSpPr>
          <p:cNvPr id="9" name="">
            <a:extLst xmlns:a="http://schemas.openxmlformats.org/drawingml/2006/main">
              <a:ext uri="{FF2B5EF4-FFF2-40B4-BE49-F238E27FC236}">
                <a16:creationId xmlns:a16="http://schemas.microsoft.com/office/drawing/2014/main" id="{CFCFD2A4-039C-4CE5-9145-05FF287768EE}"/>
              </a:ext>
            </a:extLst>
          </p:cNvPr>
          <p:cNvSpPr>
            <a:spLocks xmlns:a="http://schemas.openxmlformats.org/drawingml/2006/main" noGrp="1"/>
          </p:cNvSpPr>
          <p:nvPr/>
        </p:nvSpPr>
        <p:spPr>
          <a:xfrm xmlns:a="http://schemas.openxmlformats.org/drawingml/2006/main">
            <a:off x="685800" y="47625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i="0">
                <a:solidFill>
                  <a:srgbClr val="3A2215"/>
                </a:solidFill>
                <a:latin typeface="Georgia"/>
                <a:ea typeface="Georgia"/>
                <a:cs typeface="Georgia"/>
              </a:defRPr>
            </a:pPr>
            <a:r>
              <a:rPr sz="1950" b="1" i="0">
                <a:solidFill>
                  <a:srgbClr val="3A2215"/>
                </a:solidFill>
                <a:latin typeface="Georgia"/>
                <a:ea typeface="Georgia"/>
                <a:cs typeface="Georgia"/>
              </a:rPr>
              <a:t>From curiosity to a well-planned day—without leaving the app.</a:t>
            </a:r>
          </a:p>
        </p:txBody>
      </p:sp>
      <p:sp>
        <p:nvSpPr>
          <p:cNvPr id="10" name="">
            <a:extLst xmlns:a="http://schemas.openxmlformats.org/drawingml/2006/main">
              <a:ext uri="{FF2B5EF4-FFF2-40B4-BE49-F238E27FC236}">
                <a16:creationId xmlns:a16="http://schemas.microsoft.com/office/drawing/2014/main" id="{3F33F252-69A7-4E30-9C3D-7A2CC149C31C}"/>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1" name="">
            <a:extLst xmlns:a="http://schemas.openxmlformats.org/drawingml/2006/main">
              <a:ext uri="{FF2B5EF4-FFF2-40B4-BE49-F238E27FC236}">
                <a16:creationId xmlns:a16="http://schemas.microsoft.com/office/drawing/2014/main" id="{081AE688-6170-4240-93FA-159F95B2DCCC}"/>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39521803"/>
      </p:ext>
    </p:extLst>
  </p:cSld>
</p:sld>
</file>

<file path=ppt/slides/slide4.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1f9c27da6c54c32"/>
          <a:stretch xmlns:a="http://schemas.openxmlformats.org/drawingml/2006/main"/>
        </p:blipFill>
        <p:spPr>
          <a:xfrm xmlns:a="http://schemas.openxmlformats.org/drawingml/2006/main">
            <a:off x="7228742" y="323850"/>
            <a:ext cx="2725615" cy="5905500"/>
          </a:xfrm>
          <a:prstGeom xmlns:a="http://schemas.openxmlformats.org/drawingml/2006/main" prst="roundRect">
            <a:avLst>
              <a:gd name="adj" fmla="val 4819"/>
            </a:avLst>
          </a:prstGeom>
        </p:spPr>
      </p:pic>
      <p:sp>
        <p:nvSpPr>
          <p:cNvPr id="2" name="">
            <a:extLst xmlns:a="http://schemas.openxmlformats.org/drawingml/2006/main">
              <a:ext uri="{FF2B5EF4-FFF2-40B4-BE49-F238E27FC236}">
                <a16:creationId xmlns:a16="http://schemas.microsoft.com/office/drawing/2014/main" id="{5B34EB63-084C-469E-B590-8DC382AA8DBF}"/>
              </a:ext>
            </a:extLst>
          </p:cNvPr>
          <p:cNvSpPr>
            <a:spLocks xmlns:a="http://schemas.openxmlformats.org/drawingml/2006/main" noGrp="1"/>
          </p:cNvSpPr>
          <p:nvPr/>
        </p:nvSpPr>
        <p:spPr>
          <a:xfrm xmlns:a="http://schemas.openxmlformats.org/drawingml/2006/main">
            <a:off x="685800" y="990600"/>
            <a:ext cx="52387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i="0">
                <a:solidFill>
                  <a:srgbClr val="FFFFFF"/>
                </a:solidFill>
                <a:latin typeface="Georgia"/>
                <a:ea typeface="Georgia"/>
                <a:cs typeface="Georgia"/>
              </a:defRPr>
            </a:pPr>
            <a:r>
              <a:rPr sz="3900" b="1" i="0">
                <a:solidFill>
                  <a:srgbClr val="FFFFFF"/>
                </a:solidFill>
                <a:latin typeface="Georgia"/>
                <a:ea typeface="Georgia"/>
                <a:cs typeface="Georgia"/>
              </a:rPr>
              <a:t>Features that</a:t>
            </a:r>
          </a:p>
          <a:p xmlns:a="http://schemas.openxmlformats.org/drawingml/2006/main">
            <a:pPr algn="l">
              <a:buNone/>
              <a:defRPr sz="3900" b="1" i="0">
                <a:solidFill>
                  <a:srgbClr val="FFFFFF"/>
                </a:solidFill>
                <a:latin typeface="Georgia"/>
                <a:ea typeface="Georgia"/>
                <a:cs typeface="Georgia"/>
              </a:defRPr>
            </a:pPr>
            <a:r>
              <a:rPr sz="3900" b="1" i="0">
                <a:solidFill>
                  <a:srgbClr val="FFFFFF"/>
                </a:solidFill>
                <a:latin typeface="Georgia"/>
                <a:ea typeface="Georgia"/>
                <a:cs typeface="Georgia"/>
              </a:rPr>
              <a:t>turn intent</a:t>
            </a:r>
          </a:p>
          <a:p xmlns:a="http://schemas.openxmlformats.org/drawingml/2006/main">
            <a:pPr algn="l">
              <a:buNone/>
              <a:defRPr sz="3900" b="1" i="0">
                <a:solidFill>
                  <a:srgbClr val="FFFFFF"/>
                </a:solidFill>
                <a:latin typeface="Georgia"/>
                <a:ea typeface="Georgia"/>
                <a:cs typeface="Georgia"/>
              </a:defRPr>
            </a:pPr>
            <a:r>
              <a:rPr sz="3900" b="1" i="0">
                <a:solidFill>
                  <a:srgbClr val="FFFFFF"/>
                </a:solidFill>
                <a:latin typeface="Georgia"/>
                <a:ea typeface="Georgia"/>
                <a:cs typeface="Georgia"/>
              </a:rPr>
              <a:t>into a journey.</a:t>
            </a:r>
          </a:p>
        </p:txBody>
      </p:sp>
      <p:sp>
        <p:nvSpPr>
          <p:cNvPr id="3" name="">
            <a:extLst xmlns:a="http://schemas.openxmlformats.org/drawingml/2006/main">
              <a:ext uri="{FF2B5EF4-FFF2-40B4-BE49-F238E27FC236}">
                <a16:creationId xmlns:a16="http://schemas.microsoft.com/office/drawing/2014/main" id="{EE69FEBF-0BA8-4834-9D3C-4516D307DB26}"/>
              </a:ext>
            </a:extLst>
          </p:cNvPr>
          <p:cNvSpPr>
            <a:spLocks xmlns:a="http://schemas.openxmlformats.org/drawingml/2006/main" noGrp="1"/>
          </p:cNvSpPr>
          <p:nvPr/>
        </p:nvSpPr>
        <p:spPr>
          <a:xfrm xmlns:a="http://schemas.openxmlformats.org/drawingml/2006/main">
            <a:off x="723900" y="342900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E9D9C8"/>
                </a:solidFill>
                <a:latin typeface="Aptos"/>
                <a:ea typeface="Aptos"/>
                <a:cs typeface="Aptos"/>
              </a:defRPr>
            </a:pPr>
            <a:r>
              <a:rPr sz="1800" b="0" i="0">
                <a:solidFill>
                  <a:srgbClr val="E9D9C8"/>
                </a:solidFill>
                <a:latin typeface="Aptos"/>
                <a:ea typeface="Aptos"/>
                <a:cs typeface="Aptos"/>
              </a:rPr>
              <a:t>Explore pagodas, compare routes, and build a trip directly inside the app.</a:t>
            </a:r>
          </a:p>
        </p:txBody>
      </p:sp>
      <p:sp>
        <p:nvSpPr>
          <p:cNvPr id="4" name="">
            <a:extLst xmlns:a="http://schemas.openxmlformats.org/drawingml/2006/main">
              <a:ext uri="{FF2B5EF4-FFF2-40B4-BE49-F238E27FC236}">
                <a16:creationId xmlns:a16="http://schemas.microsoft.com/office/drawing/2014/main" id="{23EA5CA6-42B1-4A96-9435-8354591C87CD}"/>
              </a:ext>
            </a:extLst>
          </p:cNvPr>
          <p:cNvSpPr>
            <a:spLocks xmlns:a="http://schemas.openxmlformats.org/drawingml/2006/main" noGrp="1"/>
          </p:cNvSpPr>
          <p:nvPr/>
        </p:nvSpPr>
        <p:spPr>
          <a:xfrm xmlns:a="http://schemas.openxmlformats.org/drawingml/2006/main">
            <a:off x="723900" y="4591050"/>
            <a:ext cx="466725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5" name="">
            <a:extLst xmlns:a="http://schemas.openxmlformats.org/drawingml/2006/main">
              <a:ext uri="{FF2B5EF4-FFF2-40B4-BE49-F238E27FC236}">
                <a16:creationId xmlns:a16="http://schemas.microsoft.com/office/drawing/2014/main" id="{99D3CBEB-AB3B-4D08-B5A5-5841A96BFA6D}"/>
              </a:ext>
            </a:extLst>
          </p:cNvPr>
          <p:cNvSpPr>
            <a:spLocks xmlns:a="http://schemas.openxmlformats.org/drawingml/2006/main" noGrp="1"/>
          </p:cNvSpPr>
          <p:nvPr/>
        </p:nvSpPr>
        <p:spPr>
          <a:xfrm xmlns:a="http://schemas.openxmlformats.org/drawingml/2006/main">
            <a:off x="723900" y="4857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99E42"/>
                </a:solidFill>
                <a:latin typeface="Aptos"/>
                <a:ea typeface="Aptos"/>
                <a:cs typeface="Aptos"/>
              </a:defRPr>
            </a:pPr>
            <a:r>
              <a:rPr sz="975" b="1" i="0">
                <a:solidFill>
                  <a:srgbClr val="C99E42"/>
                </a:solidFill>
                <a:latin typeface="Aptos"/>
                <a:ea typeface="Aptos"/>
                <a:cs typeface="Aptos"/>
              </a:rPr>
              <a:t>FEATURE • MAP &amp; TRIPS</a:t>
            </a:r>
          </a:p>
        </p:txBody>
      </p:sp>
      <p:sp>
        <p:nvSpPr>
          <p:cNvPr id="6" name="">
            <a:extLst xmlns:a="http://schemas.openxmlformats.org/drawingml/2006/main">
              <a:ext uri="{FF2B5EF4-FFF2-40B4-BE49-F238E27FC236}">
                <a16:creationId xmlns:a16="http://schemas.microsoft.com/office/drawing/2014/main" id="{43618B9D-A457-4054-B9C2-0B767D368CA4}"/>
              </a:ext>
            </a:extLst>
          </p:cNvPr>
          <p:cNvSpPr>
            <a:spLocks xmlns:a="http://schemas.openxmlformats.org/drawingml/2006/main" noGrp="1"/>
          </p:cNvSpPr>
          <p:nvPr/>
        </p:nvSpPr>
        <p:spPr>
          <a:xfrm xmlns:a="http://schemas.openxmlformats.org/drawingml/2006/main">
            <a:off x="723900" y="521970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F7EBDD"/>
                </a:solidFill>
                <a:latin typeface="Aptos"/>
                <a:ea typeface="Aptos"/>
                <a:cs typeface="Aptos"/>
              </a:defRPr>
            </a:pPr>
            <a:r>
              <a:rPr sz="1350" b="0" i="0">
                <a:solidFill>
                  <a:srgbClr val="F7EBDD"/>
                </a:solidFill>
                <a:latin typeface="Aptos"/>
                <a:ea typeface="Aptos"/>
                <a:cs typeface="Aptos"/>
              </a:rPr>
              <a:t>Interactive markers, trip-planning modes, and a map fallback keep the route useful while travelling.</a:t>
            </a:r>
          </a:p>
        </p:txBody>
      </p:sp>
      <p:sp>
        <p:nvSpPr>
          <p:cNvPr id="7" name="">
            <a:extLst xmlns:a="http://schemas.openxmlformats.org/drawingml/2006/main">
              <a:ext uri="{FF2B5EF4-FFF2-40B4-BE49-F238E27FC236}">
                <a16:creationId xmlns:a16="http://schemas.microsoft.com/office/drawing/2014/main" id="{5A2830C1-AD07-4913-B649-C573C705A0A6}"/>
              </a:ext>
            </a:extLst>
          </p:cNvPr>
          <p:cNvSpPr>
            <a:spLocks xmlns:a="http://schemas.openxmlformats.org/drawingml/2006/main" noGrp="1"/>
          </p:cNvSpPr>
          <p:nvPr/>
        </p:nvSpPr>
        <p:spPr>
          <a:xfrm xmlns:a="http://schemas.openxmlformats.org/drawingml/2006/main">
            <a:off x="723900" y="64008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C99E42"/>
                </a:solidFill>
                <a:latin typeface="Aptos"/>
                <a:ea typeface="Aptos"/>
                <a:cs typeface="Aptos"/>
              </a:defRPr>
            </a:pPr>
            <a:r>
              <a:rPr sz="825" b="1" i="0">
                <a:solidFill>
                  <a:srgbClr val="C99E42"/>
                </a:solidFill>
                <a:latin typeface="Aptos"/>
                <a:ea typeface="Aptos"/>
                <a:cs typeface="Aptos"/>
              </a:rPr>
              <a:t>WORKING ON A PHYSICAL ANDROID DEVICE</a:t>
            </a:r>
          </a:p>
        </p:txBody>
      </p:sp>
    </p:spTree>
    <p:extLst>
      <p:ext uri="{BB962C8B-B14F-4D97-AF65-F5344CB8AC3E}">
        <p14:creationId xmlns:p14="http://schemas.microsoft.com/office/powerpoint/2010/main" val="116379553"/>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2F8FB5-8E9B-4424-80AA-EA229B23CFA8}"/>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B65331"/>
                </a:solidFill>
                <a:latin typeface="Aptos"/>
                <a:ea typeface="Aptos"/>
                <a:cs typeface="Aptos"/>
              </a:defRPr>
            </a:pPr>
            <a:r>
              <a:rPr sz="975" b="1" i="0">
                <a:solidFill>
                  <a:srgbClr val="B65331"/>
                </a:solidFill>
                <a:latin typeface="Aptos"/>
                <a:ea typeface="Aptos"/>
                <a:cs typeface="Aptos"/>
              </a:rPr>
              <a:t>FEATURES • PERSONAL JOURNEY</a:t>
            </a:r>
          </a:p>
        </p:txBody>
      </p:sp>
      <p:sp>
        <p:nvSpPr>
          <p:cNvPr id="2" name="">
            <a:extLst xmlns:a="http://schemas.openxmlformats.org/drawingml/2006/main">
              <a:ext uri="{FF2B5EF4-FFF2-40B4-BE49-F238E27FC236}">
                <a16:creationId xmlns:a16="http://schemas.microsoft.com/office/drawing/2014/main" id="{BE73FFE1-AE6E-4A4F-B5FC-EB44E97208D4}"/>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806F65"/>
                </a:solidFill>
                <a:latin typeface="Aptos"/>
                <a:ea typeface="Aptos"/>
                <a:cs typeface="Aptos"/>
              </a:defRPr>
            </a:pPr>
            <a:r>
              <a:rPr sz="975" b="1" i="0">
                <a:solidFill>
                  <a:srgbClr val="806F65"/>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D0B5C8EA-C46F-4F7C-A71C-028E402BE3EC}"/>
              </a:ext>
            </a:extLst>
          </p:cNvPr>
          <p:cNvSpPr>
            <a:spLocks xmlns:a="http://schemas.openxmlformats.org/drawingml/2006/main" noGrp="1"/>
          </p:cNvSpPr>
          <p:nvPr/>
        </p:nvSpPr>
        <p:spPr>
          <a:xfrm xmlns:a="http://schemas.openxmlformats.org/drawingml/2006/main">
            <a:off x="685800" y="971550"/>
            <a:ext cx="5334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Make every visit</a:t>
            </a:r>
          </a:p>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your own.</a:t>
            </a:r>
          </a:p>
        </p:txBody>
      </p:sp>
      <p:sp>
        <p:nvSpPr>
          <p:cNvPr id="4" name="">
            <a:extLst xmlns:a="http://schemas.openxmlformats.org/drawingml/2006/main">
              <a:ext uri="{FF2B5EF4-FFF2-40B4-BE49-F238E27FC236}">
                <a16:creationId xmlns:a16="http://schemas.microsoft.com/office/drawing/2014/main" id="{B2D21D58-808E-4D2D-8B08-E56FB08FEBB3}"/>
              </a:ext>
            </a:extLst>
          </p:cNvPr>
          <p:cNvSpPr>
            <a:spLocks xmlns:a="http://schemas.openxmlformats.org/drawingml/2006/main" noGrp="1"/>
          </p:cNvSpPr>
          <p:nvPr/>
        </p:nvSpPr>
        <p:spPr>
          <a:xfrm xmlns:a="http://schemas.openxmlformats.org/drawingml/2006/main">
            <a:off x="685800" y="2428875"/>
            <a:ext cx="5191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i="0">
                <a:solidFill>
                  <a:srgbClr val="806F65"/>
                </a:solidFill>
                <a:latin typeface="Aptos"/>
                <a:ea typeface="Aptos"/>
                <a:cs typeface="Aptos"/>
              </a:defRPr>
            </a:pPr>
            <a:r>
              <a:rPr sz="1725" b="0" i="0">
                <a:solidFill>
                  <a:srgbClr val="806F65"/>
                </a:solidFill>
                <a:latin typeface="Aptos"/>
                <a:ea typeface="Aptos"/>
                <a:cs typeface="Aptos"/>
              </a:rPr>
              <a:t>Save pagodas, create journeys, join the community, and use the guide whenever you need context.</a:t>
            </a:r>
          </a:p>
        </p:txBody>
      </p:sp>
      <p:sp>
        <p:nvSpPr>
          <p:cNvPr id="5" name="">
            <a:extLst xmlns:a="http://schemas.openxmlformats.org/drawingml/2006/main">
              <a:ext uri="{FF2B5EF4-FFF2-40B4-BE49-F238E27FC236}">
                <a16:creationId xmlns:a16="http://schemas.microsoft.com/office/drawing/2014/main" id="{725475C6-942F-4F59-908C-599268AC3451}"/>
              </a:ext>
            </a:extLst>
          </p:cNvPr>
          <p:cNvSpPr>
            <a:spLocks xmlns:a="http://schemas.openxmlformats.org/drawingml/2006/main" noGrp="1"/>
          </p:cNvSpPr>
          <p:nvPr/>
        </p:nvSpPr>
        <p:spPr>
          <a:xfrm xmlns:a="http://schemas.openxmlformats.org/drawingml/2006/main">
            <a:off x="685800" y="3933825"/>
            <a:ext cx="51435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6" name="">
            <a:extLst xmlns:a="http://schemas.openxmlformats.org/drawingml/2006/main">
              <a:ext uri="{FF2B5EF4-FFF2-40B4-BE49-F238E27FC236}">
                <a16:creationId xmlns:a16="http://schemas.microsoft.com/office/drawing/2014/main" id="{AF3572E4-ECC8-443B-A781-C8D919B7C291}"/>
              </a:ext>
            </a:extLst>
          </p:cNvPr>
          <p:cNvSpPr>
            <a:spLocks xmlns:a="http://schemas.openxmlformats.org/drawingml/2006/main" noGrp="1"/>
          </p:cNvSpPr>
          <p:nvPr/>
        </p:nvSpPr>
        <p:spPr>
          <a:xfrm xmlns:a="http://schemas.openxmlformats.org/drawingml/2006/main">
            <a:off x="685800" y="43053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i="0">
                <a:solidFill>
                  <a:srgbClr val="2B1D14"/>
                </a:solidFill>
                <a:latin typeface="Georgia"/>
                <a:ea typeface="Georgia"/>
                <a:cs typeface="Georgia"/>
              </a:defRPr>
            </a:pPr>
            <a:r>
              <a:rPr sz="2100" b="1" i="0">
                <a:solidFill>
                  <a:srgbClr val="2B1D14"/>
                </a:solidFill>
                <a:latin typeface="Georgia"/>
                <a:ea typeface="Georgia"/>
                <a:cs typeface="Georgia"/>
              </a:rPr>
              <a:t>Useful before, during, and after the visit.</a:t>
            </a:r>
          </a:p>
        </p:txBody>
      </p:sp>
      <p:sp>
        <p:nvSpPr>
          <p:cNvPr id="7" name="">
            <a:extLst xmlns:a="http://schemas.openxmlformats.org/drawingml/2006/main">
              <a:ext uri="{FF2B5EF4-FFF2-40B4-BE49-F238E27FC236}">
                <a16:creationId xmlns:a16="http://schemas.microsoft.com/office/drawing/2014/main" id="{4C3002A1-BCB2-497C-BB7C-887D406E7931}"/>
              </a:ext>
            </a:extLst>
          </p:cNvPr>
          <p:cNvSpPr>
            <a:spLocks xmlns:a="http://schemas.openxmlformats.org/drawingml/2006/main" noGrp="1"/>
          </p:cNvSpPr>
          <p:nvPr/>
        </p:nvSpPr>
        <p:spPr>
          <a:xfrm xmlns:a="http://schemas.openxmlformats.org/drawingml/2006/main">
            <a:off x="704850" y="5219700"/>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2B1D14"/>
                </a:solidFill>
                <a:latin typeface="Aptos"/>
                <a:ea typeface="Aptos"/>
                <a:cs typeface="Aptos"/>
              </a:defRPr>
            </a:pPr>
            <a:r>
              <a:rPr sz="1425" b="0" i="0">
                <a:solidFill>
                  <a:srgbClr val="2B1D14"/>
                </a:solidFill>
                <a:latin typeface="Aptos"/>
                <a:ea typeface="Aptos"/>
                <a:cs typeface="Aptos"/>
              </a:rPr>
              <a:t>• Save meaningful places</a:t>
            </a:r>
          </a:p>
          <a:p xmlns:a="http://schemas.openxmlformats.org/drawingml/2006/main">
            <a:pPr algn="l">
              <a:buNone/>
              <a:defRPr sz="1425" b="0" i="0">
                <a:solidFill>
                  <a:srgbClr val="2B1D14"/>
                </a:solidFill>
                <a:latin typeface="Aptos"/>
                <a:ea typeface="Aptos"/>
                <a:cs typeface="Aptos"/>
              </a:defRPr>
            </a:pPr>
            <a:r>
              <a:rPr sz="1425" b="0" i="0">
                <a:solidFill>
                  <a:srgbClr val="2B1D14"/>
                </a:solidFill>
                <a:latin typeface="Aptos"/>
                <a:ea typeface="Aptos"/>
                <a:cs typeface="Aptos"/>
              </a:rPr>
              <a:t>• Build a route around time and travel mode</a:t>
            </a:r>
          </a:p>
          <a:p xmlns:a="http://schemas.openxmlformats.org/drawingml/2006/main">
            <a:pPr algn="l">
              <a:buNone/>
              <a:defRPr sz="1425" b="0" i="0">
                <a:solidFill>
                  <a:srgbClr val="2B1D14"/>
                </a:solidFill>
                <a:latin typeface="Aptos"/>
                <a:ea typeface="Aptos"/>
                <a:cs typeface="Aptos"/>
              </a:defRPr>
            </a:pPr>
            <a:r>
              <a:rPr sz="1425" b="0" i="0">
                <a:solidFill>
                  <a:srgbClr val="2B1D14"/>
                </a:solidFill>
                <a:latin typeface="Aptos"/>
                <a:ea typeface="Aptos"/>
                <a:cs typeface="Aptos"/>
              </a:rPr>
              <a:t>• Keep personal preferences and journeys together</a:t>
            </a:r>
          </a:p>
          <a:p xmlns:a="http://schemas.openxmlformats.org/drawingml/2006/main">
            <a:pPr algn="l">
              <a:buNone/>
              <a:defRPr sz="1425" b="0" i="0">
                <a:solidFill>
                  <a:srgbClr val="2B1D14"/>
                </a:solidFill>
                <a:latin typeface="Aptos"/>
                <a:ea typeface="Aptos"/>
                <a:cs typeface="Aptos"/>
              </a:defRPr>
            </a:pPr>
            <a:r>
              <a:rPr sz="1425" b="0" i="0">
                <a:solidFill>
                  <a:srgbClr val="2B1D14"/>
                </a:solidFill>
                <a:latin typeface="Aptos"/>
                <a:ea typeface="Aptos"/>
                <a:cs typeface="Aptos"/>
              </a:rPr>
              <a:t>• Ask or share through the AI guide and community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16a00b8a5d34b5f"/>
          <a:stretch xmlns:a="http://schemas.openxmlformats.org/drawingml/2006/main"/>
        </p:blipFill>
        <p:spPr>
          <a:xfrm xmlns:a="http://schemas.openxmlformats.org/drawingml/2006/main">
            <a:off x="7000875" y="1339850"/>
            <a:ext cx="1809750" cy="3921125"/>
          </a:xfrm>
          <a:prstGeom xmlns:a="http://schemas.openxmlformats.org/drawingml/2006/main" prst="roundRect">
            <a:avLst>
              <a:gd name="adj" fmla="val 8421"/>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da50b8744134467"/>
          <a:stretch xmlns:a="http://schemas.openxmlformats.org/drawingml/2006/main"/>
        </p:blipFill>
        <p:spPr>
          <a:xfrm xmlns:a="http://schemas.openxmlformats.org/drawingml/2006/main">
            <a:off x="9163050" y="1339850"/>
            <a:ext cx="1809750" cy="3921125"/>
          </a:xfrm>
          <a:prstGeom xmlns:a="http://schemas.openxmlformats.org/drawingml/2006/main" prst="roundRect">
            <a:avLst>
              <a:gd name="adj" fmla="val 8421"/>
            </a:avLst>
          </a:prstGeom>
        </p:spPr>
      </p:pic>
      <p:sp>
        <p:nvSpPr>
          <p:cNvPr id="10" name="">
            <a:extLst xmlns:a="http://schemas.openxmlformats.org/drawingml/2006/main">
              <a:ext uri="{FF2B5EF4-FFF2-40B4-BE49-F238E27FC236}">
                <a16:creationId xmlns:a16="http://schemas.microsoft.com/office/drawing/2014/main" id="{DCD7C1CE-C0D8-4165-9103-8721F6BBEE72}"/>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1" name="">
            <a:extLst xmlns:a="http://schemas.openxmlformats.org/drawingml/2006/main">
              <a:ext uri="{FF2B5EF4-FFF2-40B4-BE49-F238E27FC236}">
                <a16:creationId xmlns:a16="http://schemas.microsoft.com/office/drawing/2014/main" id="{F620EBBC-33D0-42BC-A578-582CF31BACC4}"/>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17972743"/>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0076439-8879-4B53-981D-CBA1C23C5DC6}"/>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B65331"/>
                </a:solidFill>
                <a:latin typeface="Aptos"/>
                <a:ea typeface="Aptos"/>
                <a:cs typeface="Aptos"/>
              </a:defRPr>
            </a:pPr>
            <a:r>
              <a:rPr sz="975" b="1" i="0">
                <a:solidFill>
                  <a:srgbClr val="B65331"/>
                </a:solidFill>
                <a:latin typeface="Aptos"/>
                <a:ea typeface="Aptos"/>
                <a:cs typeface="Aptos"/>
              </a:rPr>
              <a:t>TECH STACK</a:t>
            </a:r>
          </a:p>
        </p:txBody>
      </p:sp>
      <p:sp>
        <p:nvSpPr>
          <p:cNvPr id="2" name="">
            <a:extLst xmlns:a="http://schemas.openxmlformats.org/drawingml/2006/main">
              <a:ext uri="{FF2B5EF4-FFF2-40B4-BE49-F238E27FC236}">
                <a16:creationId xmlns:a16="http://schemas.microsoft.com/office/drawing/2014/main" id="{21E25C8C-E648-4334-8A6E-683EEF051F6D}"/>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806F65"/>
                </a:solidFill>
                <a:latin typeface="Aptos"/>
                <a:ea typeface="Aptos"/>
                <a:cs typeface="Aptos"/>
              </a:defRPr>
            </a:pPr>
            <a:r>
              <a:rPr sz="975" b="1" i="0">
                <a:solidFill>
                  <a:srgbClr val="806F65"/>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3096F7C1-CEEC-425D-AFF5-3282EEA41679}"/>
              </a:ext>
            </a:extLst>
          </p:cNvPr>
          <p:cNvSpPr>
            <a:spLocks xmlns:a="http://schemas.openxmlformats.org/drawingml/2006/main" noGrp="1"/>
          </p:cNvSpPr>
          <p:nvPr/>
        </p:nvSpPr>
        <p:spPr>
          <a:xfrm xmlns:a="http://schemas.openxmlformats.org/drawingml/2006/main">
            <a:off x="685800" y="971550"/>
            <a:ext cx="590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A practical stack</a:t>
            </a:r>
          </a:p>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behind the experience.</a:t>
            </a:r>
          </a:p>
        </p:txBody>
      </p:sp>
      <p:sp>
        <p:nvSpPr>
          <p:cNvPr id="4" name="">
            <a:extLst xmlns:a="http://schemas.openxmlformats.org/drawingml/2006/main">
              <a:ext uri="{FF2B5EF4-FFF2-40B4-BE49-F238E27FC236}">
                <a16:creationId xmlns:a16="http://schemas.microsoft.com/office/drawing/2014/main" id="{625948EF-2631-4D12-80F6-649361A9F3B4}"/>
              </a:ext>
            </a:extLst>
          </p:cNvPr>
          <p:cNvSpPr>
            <a:spLocks xmlns:a="http://schemas.openxmlformats.org/drawingml/2006/main" noGrp="1"/>
          </p:cNvSpPr>
          <p:nvPr/>
        </p:nvSpPr>
        <p:spPr>
          <a:xfrm xmlns:a="http://schemas.openxmlformats.org/drawingml/2006/main">
            <a:off x="68580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99E42"/>
                </a:solidFill>
                <a:latin typeface="Aptos"/>
                <a:ea typeface="Aptos"/>
                <a:cs typeface="Aptos"/>
              </a:defRPr>
            </a:pPr>
            <a:r>
              <a:rPr sz="1350" b="1" i="0">
                <a:solidFill>
                  <a:srgbClr val="C99E4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3E6FAB8-A924-40F1-A7FD-98AB73C92AD3}"/>
              </a:ext>
            </a:extLst>
          </p:cNvPr>
          <p:cNvSpPr>
            <a:spLocks xmlns:a="http://schemas.openxmlformats.org/drawingml/2006/main" noGrp="1"/>
          </p:cNvSpPr>
          <p:nvPr/>
        </p:nvSpPr>
        <p:spPr>
          <a:xfrm xmlns:a="http://schemas.openxmlformats.org/drawingml/2006/main">
            <a:off x="68580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i="0">
                <a:solidFill>
                  <a:srgbClr val="2B1D14"/>
                </a:solidFill>
                <a:latin typeface="Georgia"/>
                <a:ea typeface="Georgia"/>
                <a:cs typeface="Georgia"/>
              </a:defRPr>
            </a:pPr>
            <a:r>
              <a:rPr sz="2250" b="1" i="0">
                <a:solidFill>
                  <a:srgbClr val="2B1D14"/>
                </a:solidFill>
                <a:latin typeface="Georgia"/>
                <a:ea typeface="Georgia"/>
                <a:cs typeface="Georgia"/>
              </a:rPr>
              <a:t>Flutter</a:t>
            </a:r>
          </a:p>
        </p:txBody>
      </p:sp>
      <p:sp>
        <p:nvSpPr>
          <p:cNvPr id="6" name="">
            <a:extLst xmlns:a="http://schemas.openxmlformats.org/drawingml/2006/main">
              <a:ext uri="{FF2B5EF4-FFF2-40B4-BE49-F238E27FC236}">
                <a16:creationId xmlns:a16="http://schemas.microsoft.com/office/drawing/2014/main" id="{4AE572B1-D03E-435D-85FB-31347F9CF7CF}"/>
              </a:ext>
            </a:extLst>
          </p:cNvPr>
          <p:cNvSpPr>
            <a:spLocks xmlns:a="http://schemas.openxmlformats.org/drawingml/2006/main" noGrp="1"/>
          </p:cNvSpPr>
          <p:nvPr/>
        </p:nvSpPr>
        <p:spPr>
          <a:xfrm xmlns:a="http://schemas.openxmlformats.org/drawingml/2006/main">
            <a:off x="68580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Cross-platform mobile UI and navigation.</a:t>
            </a:r>
          </a:p>
        </p:txBody>
      </p:sp>
      <p:sp>
        <p:nvSpPr>
          <p:cNvPr id="7" name="">
            <a:extLst xmlns:a="http://schemas.openxmlformats.org/drawingml/2006/main">
              <a:ext uri="{FF2B5EF4-FFF2-40B4-BE49-F238E27FC236}">
                <a16:creationId xmlns:a16="http://schemas.microsoft.com/office/drawing/2014/main" id="{AA0E5124-04CE-40A4-9DB7-BCBCE4B4D118}"/>
              </a:ext>
            </a:extLst>
          </p:cNvPr>
          <p:cNvSpPr>
            <a:spLocks xmlns:a="http://schemas.openxmlformats.org/drawingml/2006/main" noGrp="1"/>
          </p:cNvSpPr>
          <p:nvPr/>
        </p:nvSpPr>
        <p:spPr>
          <a:xfrm xmlns:a="http://schemas.openxmlformats.org/drawingml/2006/main">
            <a:off x="293370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8" name="">
            <a:extLst xmlns:a="http://schemas.openxmlformats.org/drawingml/2006/main">
              <a:ext uri="{FF2B5EF4-FFF2-40B4-BE49-F238E27FC236}">
                <a16:creationId xmlns:a16="http://schemas.microsoft.com/office/drawing/2014/main" id="{E98F91FB-3117-4E8A-9F44-33D9E5AB2D58}"/>
              </a:ext>
            </a:extLst>
          </p:cNvPr>
          <p:cNvSpPr>
            <a:spLocks xmlns:a="http://schemas.openxmlformats.org/drawingml/2006/main" noGrp="1"/>
          </p:cNvSpPr>
          <p:nvPr/>
        </p:nvSpPr>
        <p:spPr>
          <a:xfrm xmlns:a="http://schemas.openxmlformats.org/drawingml/2006/main">
            <a:off x="337185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99E42"/>
                </a:solidFill>
                <a:latin typeface="Aptos"/>
                <a:ea typeface="Aptos"/>
                <a:cs typeface="Aptos"/>
              </a:defRPr>
            </a:pPr>
            <a:r>
              <a:rPr sz="1350" b="1" i="0">
                <a:solidFill>
                  <a:srgbClr val="C99E42"/>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7E5D4092-6C46-4893-8BF2-680C5AD0848D}"/>
              </a:ext>
            </a:extLst>
          </p:cNvPr>
          <p:cNvSpPr>
            <a:spLocks xmlns:a="http://schemas.openxmlformats.org/drawingml/2006/main" noGrp="1"/>
          </p:cNvSpPr>
          <p:nvPr/>
        </p:nvSpPr>
        <p:spPr>
          <a:xfrm xmlns:a="http://schemas.openxmlformats.org/drawingml/2006/main">
            <a:off x="337185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i="0">
                <a:solidFill>
                  <a:srgbClr val="2B1D14"/>
                </a:solidFill>
                <a:latin typeface="Georgia"/>
                <a:ea typeface="Georgia"/>
                <a:cs typeface="Georgia"/>
              </a:defRPr>
            </a:pPr>
            <a:r>
              <a:rPr sz="2250" b="1" i="0">
                <a:solidFill>
                  <a:srgbClr val="2B1D14"/>
                </a:solidFill>
                <a:latin typeface="Georgia"/>
                <a:ea typeface="Georgia"/>
                <a:cs typeface="Georgia"/>
              </a:rPr>
              <a:t>Firebase</a:t>
            </a:r>
          </a:p>
        </p:txBody>
      </p:sp>
      <p:sp>
        <p:nvSpPr>
          <p:cNvPr id="10" name="">
            <a:extLst xmlns:a="http://schemas.openxmlformats.org/drawingml/2006/main">
              <a:ext uri="{FF2B5EF4-FFF2-40B4-BE49-F238E27FC236}">
                <a16:creationId xmlns:a16="http://schemas.microsoft.com/office/drawing/2014/main" id="{33908C50-DC78-46C0-AA0A-561688A3A70D}"/>
              </a:ext>
            </a:extLst>
          </p:cNvPr>
          <p:cNvSpPr>
            <a:spLocks xmlns:a="http://schemas.openxmlformats.org/drawingml/2006/main" noGrp="1"/>
          </p:cNvSpPr>
          <p:nvPr/>
        </p:nvSpPr>
        <p:spPr>
          <a:xfrm xmlns:a="http://schemas.openxmlformats.org/drawingml/2006/main">
            <a:off x="337185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Authentication, Firestore data, and Storage.</a:t>
            </a:r>
          </a:p>
        </p:txBody>
      </p:sp>
      <p:sp>
        <p:nvSpPr>
          <p:cNvPr id="11" name="">
            <a:extLst xmlns:a="http://schemas.openxmlformats.org/drawingml/2006/main">
              <a:ext uri="{FF2B5EF4-FFF2-40B4-BE49-F238E27FC236}">
                <a16:creationId xmlns:a16="http://schemas.microsoft.com/office/drawing/2014/main" id="{22831C8E-371D-4E4C-A2DB-69CE3D3EB2A2}"/>
              </a:ext>
            </a:extLst>
          </p:cNvPr>
          <p:cNvSpPr>
            <a:spLocks xmlns:a="http://schemas.openxmlformats.org/drawingml/2006/main" noGrp="1"/>
          </p:cNvSpPr>
          <p:nvPr/>
        </p:nvSpPr>
        <p:spPr>
          <a:xfrm xmlns:a="http://schemas.openxmlformats.org/drawingml/2006/main">
            <a:off x="561975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12" name="">
            <a:extLst xmlns:a="http://schemas.openxmlformats.org/drawingml/2006/main">
              <a:ext uri="{FF2B5EF4-FFF2-40B4-BE49-F238E27FC236}">
                <a16:creationId xmlns:a16="http://schemas.microsoft.com/office/drawing/2014/main" id="{3F8458EB-D552-485F-9C65-26F51600D0E3}"/>
              </a:ext>
            </a:extLst>
          </p:cNvPr>
          <p:cNvSpPr>
            <a:spLocks xmlns:a="http://schemas.openxmlformats.org/drawingml/2006/main" noGrp="1"/>
          </p:cNvSpPr>
          <p:nvPr/>
        </p:nvSpPr>
        <p:spPr>
          <a:xfrm xmlns:a="http://schemas.openxmlformats.org/drawingml/2006/main">
            <a:off x="605790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99E42"/>
                </a:solidFill>
                <a:latin typeface="Aptos"/>
                <a:ea typeface="Aptos"/>
                <a:cs typeface="Aptos"/>
              </a:defRPr>
            </a:pPr>
            <a:r>
              <a:rPr sz="1350" b="1" i="0">
                <a:solidFill>
                  <a:srgbClr val="C99E42"/>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3BB316A8-72AA-4A93-9D35-1F51E9D9F71A}"/>
              </a:ext>
            </a:extLst>
          </p:cNvPr>
          <p:cNvSpPr>
            <a:spLocks xmlns:a="http://schemas.openxmlformats.org/drawingml/2006/main" noGrp="1"/>
          </p:cNvSpPr>
          <p:nvPr/>
        </p:nvSpPr>
        <p:spPr>
          <a:xfrm xmlns:a="http://schemas.openxmlformats.org/drawingml/2006/main">
            <a:off x="605790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i="0">
                <a:solidFill>
                  <a:srgbClr val="2B1D14"/>
                </a:solidFill>
                <a:latin typeface="Georgia"/>
                <a:ea typeface="Georgia"/>
                <a:cs typeface="Georgia"/>
              </a:defRPr>
            </a:pPr>
            <a:r>
              <a:rPr sz="2250" b="1" i="0">
                <a:solidFill>
                  <a:srgbClr val="2B1D14"/>
                </a:solidFill>
                <a:latin typeface="Georgia"/>
                <a:ea typeface="Georgia"/>
                <a:cs typeface="Georgia"/>
              </a:rPr>
              <a:t>Maps</a:t>
            </a:r>
          </a:p>
        </p:txBody>
      </p:sp>
      <p:sp>
        <p:nvSpPr>
          <p:cNvPr id="14" name="">
            <a:extLst xmlns:a="http://schemas.openxmlformats.org/drawingml/2006/main">
              <a:ext uri="{FF2B5EF4-FFF2-40B4-BE49-F238E27FC236}">
                <a16:creationId xmlns:a16="http://schemas.microsoft.com/office/drawing/2014/main" id="{A8D1FF7F-9C78-4AFB-883B-9D72A594D4B1}"/>
              </a:ext>
            </a:extLst>
          </p:cNvPr>
          <p:cNvSpPr>
            <a:spLocks xmlns:a="http://schemas.openxmlformats.org/drawingml/2006/main" noGrp="1"/>
          </p:cNvSpPr>
          <p:nvPr/>
        </p:nvSpPr>
        <p:spPr>
          <a:xfrm xmlns:a="http://schemas.openxmlformats.org/drawingml/2006/main">
            <a:off x="605790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Flutter Map, map tiles, and route services.</a:t>
            </a:r>
          </a:p>
        </p:txBody>
      </p:sp>
      <p:sp>
        <p:nvSpPr>
          <p:cNvPr id="15" name="">
            <a:extLst xmlns:a="http://schemas.openxmlformats.org/drawingml/2006/main">
              <a:ext uri="{FF2B5EF4-FFF2-40B4-BE49-F238E27FC236}">
                <a16:creationId xmlns:a16="http://schemas.microsoft.com/office/drawing/2014/main" id="{E41A129F-4BD0-405D-BC94-F334B8129767}"/>
              </a:ext>
            </a:extLst>
          </p:cNvPr>
          <p:cNvSpPr>
            <a:spLocks xmlns:a="http://schemas.openxmlformats.org/drawingml/2006/main" noGrp="1"/>
          </p:cNvSpPr>
          <p:nvPr/>
        </p:nvSpPr>
        <p:spPr>
          <a:xfrm xmlns:a="http://schemas.openxmlformats.org/drawingml/2006/main">
            <a:off x="8305800" y="3848100"/>
            <a:ext cx="304800" cy="0"/>
          </a:xfrm>
          <a:prstGeom xmlns:a="http://schemas.openxmlformats.org/drawingml/2006/main" prst="line">
            <a:avLst/>
          </a:prstGeom>
          <a:noFill xmlns:a="http://schemas.openxmlformats.org/drawingml/2006/main"/>
          <a:ln xmlns:a="http://schemas.openxmlformats.org/drawingml/2006/main" w="13335">
            <a:solidFill>
              <a:srgbClr val="B65331"/>
            </a:solidFill>
            <a:prstDash val="solid"/>
          </a:ln>
        </p:spPr>
      </p:sp>
      <p:sp>
        <p:nvSpPr>
          <p:cNvPr id="16" name="">
            <a:extLst xmlns:a="http://schemas.openxmlformats.org/drawingml/2006/main">
              <a:ext uri="{FF2B5EF4-FFF2-40B4-BE49-F238E27FC236}">
                <a16:creationId xmlns:a16="http://schemas.microsoft.com/office/drawing/2014/main" id="{BC2CF534-2E3C-4D3E-B34B-9259C80CCB27}"/>
              </a:ext>
            </a:extLst>
          </p:cNvPr>
          <p:cNvSpPr>
            <a:spLocks xmlns:a="http://schemas.openxmlformats.org/drawingml/2006/main" noGrp="1"/>
          </p:cNvSpPr>
          <p:nvPr/>
        </p:nvSpPr>
        <p:spPr>
          <a:xfrm xmlns:a="http://schemas.openxmlformats.org/drawingml/2006/main">
            <a:off x="8743950" y="3219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C99E42"/>
                </a:solidFill>
                <a:latin typeface="Aptos"/>
                <a:ea typeface="Aptos"/>
                <a:cs typeface="Aptos"/>
              </a:defRPr>
            </a:pPr>
            <a:r>
              <a:rPr sz="1350" b="1" i="0">
                <a:solidFill>
                  <a:srgbClr val="C99E42"/>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3D71F532-2E6F-4E8C-8F4B-6F84F1A31806}"/>
              </a:ext>
            </a:extLst>
          </p:cNvPr>
          <p:cNvSpPr>
            <a:spLocks xmlns:a="http://schemas.openxmlformats.org/drawingml/2006/main" noGrp="1"/>
          </p:cNvSpPr>
          <p:nvPr/>
        </p:nvSpPr>
        <p:spPr>
          <a:xfrm xmlns:a="http://schemas.openxmlformats.org/drawingml/2006/main">
            <a:off x="8743950" y="37433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i="0">
                <a:solidFill>
                  <a:srgbClr val="2B1D14"/>
                </a:solidFill>
                <a:latin typeface="Georgia"/>
                <a:ea typeface="Georgia"/>
                <a:cs typeface="Georgia"/>
              </a:defRPr>
            </a:pPr>
            <a:r>
              <a:rPr sz="2250" b="1" i="0">
                <a:solidFill>
                  <a:srgbClr val="2B1D14"/>
                </a:solidFill>
                <a:latin typeface="Georgia"/>
                <a:ea typeface="Georgia"/>
                <a:cs typeface="Georgia"/>
              </a:rPr>
              <a:t>NVIDIA AI</a:t>
            </a:r>
          </a:p>
        </p:txBody>
      </p:sp>
      <p:sp>
        <p:nvSpPr>
          <p:cNvPr id="18" name="">
            <a:extLst xmlns:a="http://schemas.openxmlformats.org/drawingml/2006/main">
              <a:ext uri="{FF2B5EF4-FFF2-40B4-BE49-F238E27FC236}">
                <a16:creationId xmlns:a16="http://schemas.microsoft.com/office/drawing/2014/main" id="{324DE9D8-EBFC-46B9-8862-F065310662A2}"/>
              </a:ext>
            </a:extLst>
          </p:cNvPr>
          <p:cNvSpPr>
            <a:spLocks xmlns:a="http://schemas.openxmlformats.org/drawingml/2006/main" noGrp="1"/>
          </p:cNvSpPr>
          <p:nvPr/>
        </p:nvSpPr>
        <p:spPr>
          <a:xfrm xmlns:a="http://schemas.openxmlformats.org/drawingml/2006/main">
            <a:off x="8743950" y="4305300"/>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A guided travel assistant with live replies.</a:t>
            </a:r>
          </a:p>
        </p:txBody>
      </p:sp>
      <p:sp>
        <p:nvSpPr>
          <p:cNvPr id="19" name="">
            <a:extLst xmlns:a="http://schemas.openxmlformats.org/drawingml/2006/main">
              <a:ext uri="{FF2B5EF4-FFF2-40B4-BE49-F238E27FC236}">
                <a16:creationId xmlns:a16="http://schemas.microsoft.com/office/drawing/2014/main" id="{2B531992-AD56-4227-84E9-FE3485C39295}"/>
              </a:ext>
            </a:extLst>
          </p:cNvPr>
          <p:cNvSpPr>
            <a:spLocks xmlns:a="http://schemas.openxmlformats.org/drawingml/2006/main" noGrp="1"/>
          </p:cNvSpPr>
          <p:nvPr/>
        </p:nvSpPr>
        <p:spPr>
          <a:xfrm xmlns:a="http://schemas.openxmlformats.org/drawingml/2006/main">
            <a:off x="685800" y="5486400"/>
            <a:ext cx="10820400" cy="571500"/>
          </a:xfrm>
          <a:prstGeom xmlns:a="http://schemas.openxmlformats.org/drawingml/2006/main" prst="roundRect">
            <a:avLst>
              <a:gd name="adj" fmla="val 26667"/>
            </a:avLst>
          </a:prstGeom>
          <a:solidFill xmlns:a="http://schemas.openxmlformats.org/drawingml/2006/main">
            <a:srgbClr val="F0E5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46D580-DB06-412F-96D1-455D1B4EBEAF}"/>
              </a:ext>
            </a:extLst>
          </p:cNvPr>
          <p:cNvSpPr>
            <a:spLocks xmlns:a="http://schemas.openxmlformats.org/drawingml/2006/main" noGrp="1"/>
          </p:cNvSpPr>
          <p:nvPr/>
        </p:nvSpPr>
        <p:spPr>
          <a:xfrm xmlns:a="http://schemas.openxmlformats.org/drawingml/2006/main">
            <a:off x="952500" y="56388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i="0">
                <a:solidFill>
                  <a:srgbClr val="3A2215"/>
                </a:solidFill>
                <a:latin typeface="Aptos"/>
                <a:ea typeface="Aptos"/>
                <a:cs typeface="Aptos"/>
              </a:defRPr>
            </a:pPr>
            <a:r>
              <a:rPr sz="1575" b="1" i="0">
                <a:solidFill>
                  <a:srgbClr val="3A2215"/>
                </a:solidFill>
                <a:latin typeface="Aptos"/>
                <a:ea typeface="Aptos"/>
                <a:cs typeface="Aptos"/>
              </a:rPr>
              <a:t>A focused stack connects a polished mobile experience to live cloud data.</a:t>
            </a:r>
          </a:p>
        </p:txBody>
      </p:sp>
      <p:sp>
        <p:nvSpPr>
          <p:cNvPr id="21" name="">
            <a:extLst xmlns:a="http://schemas.openxmlformats.org/drawingml/2006/main">
              <a:ext uri="{FF2B5EF4-FFF2-40B4-BE49-F238E27FC236}">
                <a16:creationId xmlns:a16="http://schemas.microsoft.com/office/drawing/2014/main" id="{C7C749E8-9739-4E5A-ADF6-CC73223A6230}"/>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2" name="">
            <a:extLst xmlns:a="http://schemas.openxmlformats.org/drawingml/2006/main">
              <a:ext uri="{FF2B5EF4-FFF2-40B4-BE49-F238E27FC236}">
                <a16:creationId xmlns:a16="http://schemas.microsoft.com/office/drawing/2014/main" id="{A67411CF-700D-4185-BA52-BC10A97BED34}"/>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420675889"/>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50BD144-ABA8-4EB1-B32F-4AE2DC35F2AA}"/>
              </a:ext>
            </a:extLst>
          </p:cNvPr>
          <p:cNvSpPr>
            <a:spLocks xmlns:a="http://schemas.openxmlformats.org/drawingml/2006/main" noGrp="1"/>
          </p:cNvSpPr>
          <p:nvPr/>
        </p:nvSpPr>
        <p:spPr>
          <a:xfrm xmlns:a="http://schemas.openxmlformats.org/drawingml/2006/main">
            <a:off x="685800" y="4191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B65331"/>
                </a:solidFill>
                <a:latin typeface="Aptos"/>
                <a:ea typeface="Aptos"/>
                <a:cs typeface="Aptos"/>
              </a:defRPr>
            </a:pPr>
            <a:r>
              <a:rPr sz="975" b="1" i="0">
                <a:solidFill>
                  <a:srgbClr val="B65331"/>
                </a:solidFill>
                <a:latin typeface="Aptos"/>
                <a:ea typeface="Aptos"/>
                <a:cs typeface="Aptos"/>
              </a:rPr>
              <a:t>LIVE APP DEMO</a:t>
            </a:r>
          </a:p>
        </p:txBody>
      </p:sp>
      <p:sp>
        <p:nvSpPr>
          <p:cNvPr id="2" name="">
            <a:extLst xmlns:a="http://schemas.openxmlformats.org/drawingml/2006/main">
              <a:ext uri="{FF2B5EF4-FFF2-40B4-BE49-F238E27FC236}">
                <a16:creationId xmlns:a16="http://schemas.microsoft.com/office/drawing/2014/main" id="{4E396DD3-B8D7-4670-A7C9-B355D6BDA362}"/>
              </a:ext>
            </a:extLst>
          </p:cNvPr>
          <p:cNvSpPr>
            <a:spLocks xmlns:a="http://schemas.openxmlformats.org/drawingml/2006/main" noGrp="1"/>
          </p:cNvSpPr>
          <p:nvPr/>
        </p:nvSpPr>
        <p:spPr>
          <a:xfrm xmlns:a="http://schemas.openxmlformats.org/drawingml/2006/main">
            <a:off x="11001375" y="42862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i="0">
                <a:solidFill>
                  <a:srgbClr val="806F65"/>
                </a:solidFill>
                <a:latin typeface="Aptos"/>
                <a:ea typeface="Aptos"/>
                <a:cs typeface="Aptos"/>
              </a:defRPr>
            </a:pPr>
            <a:r>
              <a:rPr sz="975" b="1" i="0">
                <a:solidFill>
                  <a:srgbClr val="806F65"/>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6223C3B9-43D4-4F0B-ABE5-2A90F62D519A}"/>
              </a:ext>
            </a:extLst>
          </p:cNvPr>
          <p:cNvSpPr>
            <a:spLocks xmlns:a="http://schemas.openxmlformats.org/drawingml/2006/main" noGrp="1"/>
          </p:cNvSpPr>
          <p:nvPr/>
        </p:nvSpPr>
        <p:spPr>
          <a:xfrm xmlns:a="http://schemas.openxmlformats.org/drawingml/2006/main">
            <a:off x="685800" y="952500"/>
            <a:ext cx="533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One traveller flow.</a:t>
            </a:r>
          </a:p>
          <a:p xmlns:a="http://schemas.openxmlformats.org/drawingml/2006/main">
            <a:pPr algn="l">
              <a:buNone/>
              <a:defRPr sz="3450" b="1" i="0">
                <a:solidFill>
                  <a:srgbClr val="2B1D14"/>
                </a:solidFill>
                <a:latin typeface="Georgia"/>
                <a:ea typeface="Georgia"/>
                <a:cs typeface="Georgia"/>
              </a:defRPr>
            </a:pPr>
            <a:r>
              <a:rPr sz="3450" b="1" i="0">
                <a:solidFill>
                  <a:srgbClr val="2B1D14"/>
                </a:solidFill>
                <a:latin typeface="Georgia"/>
                <a:ea typeface="Georgia"/>
                <a:cs typeface="Georgia"/>
              </a:rPr>
              <a:t>Ready to show live.</a:t>
            </a:r>
          </a:p>
        </p:txBody>
      </p:sp>
      <p:sp>
        <p:nvSpPr>
          <p:cNvPr id="4" name="">
            <a:extLst xmlns:a="http://schemas.openxmlformats.org/drawingml/2006/main">
              <a:ext uri="{FF2B5EF4-FFF2-40B4-BE49-F238E27FC236}">
                <a16:creationId xmlns:a16="http://schemas.microsoft.com/office/drawing/2014/main" id="{B4535649-9AEF-4F49-BF61-913E5713441E}"/>
              </a:ext>
            </a:extLst>
          </p:cNvPr>
          <p:cNvSpPr>
            <a:spLocks xmlns:a="http://schemas.openxmlformats.org/drawingml/2006/main" noGrp="1"/>
          </p:cNvSpPr>
          <p:nvPr/>
        </p:nvSpPr>
        <p:spPr>
          <a:xfrm xmlns:a="http://schemas.openxmlformats.org/drawingml/2006/main">
            <a:off x="704850" y="26479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5" name="">
            <a:extLst xmlns:a="http://schemas.openxmlformats.org/drawingml/2006/main">
              <a:ext uri="{FF2B5EF4-FFF2-40B4-BE49-F238E27FC236}">
                <a16:creationId xmlns:a16="http://schemas.microsoft.com/office/drawing/2014/main" id="{4A614314-C683-4EA2-81A6-8B66FF8BEB5D}"/>
              </a:ext>
            </a:extLst>
          </p:cNvPr>
          <p:cNvSpPr>
            <a:spLocks xmlns:a="http://schemas.openxmlformats.org/drawingml/2006/main" noGrp="1"/>
          </p:cNvSpPr>
          <p:nvPr/>
        </p:nvSpPr>
        <p:spPr>
          <a:xfrm xmlns:a="http://schemas.openxmlformats.org/drawingml/2006/main">
            <a:off x="1028700" y="26860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2B1D14"/>
                </a:solidFill>
                <a:latin typeface="Aptos"/>
                <a:ea typeface="Aptos"/>
                <a:cs typeface="Aptos"/>
              </a:defRPr>
            </a:pPr>
            <a:r>
              <a:rPr sz="1425" b="1" i="0">
                <a:solidFill>
                  <a:srgbClr val="2B1D14"/>
                </a:solidFill>
                <a:latin typeface="Aptos"/>
                <a:ea typeface="Aptos"/>
                <a:cs typeface="Aptos"/>
              </a:rPr>
              <a:t>Explore</a:t>
            </a:r>
          </a:p>
        </p:txBody>
      </p:sp>
      <p:sp>
        <p:nvSpPr>
          <p:cNvPr id="6" name="">
            <a:extLst xmlns:a="http://schemas.openxmlformats.org/drawingml/2006/main">
              <a:ext uri="{FF2B5EF4-FFF2-40B4-BE49-F238E27FC236}">
                <a16:creationId xmlns:a16="http://schemas.microsoft.com/office/drawing/2014/main" id="{9BC8E5B8-8ED3-4E2A-ACE2-3CEBD4DA029D}"/>
              </a:ext>
            </a:extLst>
          </p:cNvPr>
          <p:cNvSpPr>
            <a:spLocks xmlns:a="http://schemas.openxmlformats.org/drawingml/2006/main" noGrp="1"/>
          </p:cNvSpPr>
          <p:nvPr/>
        </p:nvSpPr>
        <p:spPr>
          <a:xfrm xmlns:a="http://schemas.openxmlformats.org/drawingml/2006/main">
            <a:off x="3714750" y="268605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Start on the visual home feed and open a pagoda.</a:t>
            </a:r>
          </a:p>
        </p:txBody>
      </p:sp>
      <p:sp>
        <p:nvSpPr>
          <p:cNvPr id="7" name="">
            <a:extLst xmlns:a="http://schemas.openxmlformats.org/drawingml/2006/main">
              <a:ext uri="{FF2B5EF4-FFF2-40B4-BE49-F238E27FC236}">
                <a16:creationId xmlns:a16="http://schemas.microsoft.com/office/drawing/2014/main" id="{E5C6223C-5B7B-4A7D-AFA6-7246A89939AD}"/>
              </a:ext>
            </a:extLst>
          </p:cNvPr>
          <p:cNvSpPr>
            <a:spLocks xmlns:a="http://schemas.openxmlformats.org/drawingml/2006/main" noGrp="1"/>
          </p:cNvSpPr>
          <p:nvPr/>
        </p:nvSpPr>
        <p:spPr>
          <a:xfrm xmlns:a="http://schemas.openxmlformats.org/drawingml/2006/main">
            <a:off x="1028700" y="308610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8" name="">
            <a:extLst xmlns:a="http://schemas.openxmlformats.org/drawingml/2006/main">
              <a:ext uri="{FF2B5EF4-FFF2-40B4-BE49-F238E27FC236}">
                <a16:creationId xmlns:a16="http://schemas.microsoft.com/office/drawing/2014/main" id="{CA20CFB5-9E1A-4D89-8037-F7F853339414}"/>
              </a:ext>
            </a:extLst>
          </p:cNvPr>
          <p:cNvSpPr>
            <a:spLocks xmlns:a="http://schemas.openxmlformats.org/drawingml/2006/main" noGrp="1"/>
          </p:cNvSpPr>
          <p:nvPr/>
        </p:nvSpPr>
        <p:spPr>
          <a:xfrm xmlns:a="http://schemas.openxmlformats.org/drawingml/2006/main">
            <a:off x="704850" y="326707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85E8A02F-4B97-457B-8A03-1C3C69B349A7}"/>
              </a:ext>
            </a:extLst>
          </p:cNvPr>
          <p:cNvSpPr>
            <a:spLocks xmlns:a="http://schemas.openxmlformats.org/drawingml/2006/main" noGrp="1"/>
          </p:cNvSpPr>
          <p:nvPr/>
        </p:nvSpPr>
        <p:spPr>
          <a:xfrm xmlns:a="http://schemas.openxmlformats.org/drawingml/2006/main">
            <a:off x="1028700" y="33051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2B1D14"/>
                </a:solidFill>
                <a:latin typeface="Aptos"/>
                <a:ea typeface="Aptos"/>
                <a:cs typeface="Aptos"/>
              </a:defRPr>
            </a:pPr>
            <a:r>
              <a:rPr sz="1425" b="1" i="0">
                <a:solidFill>
                  <a:srgbClr val="2B1D14"/>
                </a:solidFill>
                <a:latin typeface="Aptos"/>
                <a:ea typeface="Aptos"/>
                <a:cs typeface="Aptos"/>
              </a:rPr>
              <a:t>Save</a:t>
            </a:r>
          </a:p>
        </p:txBody>
      </p:sp>
      <p:sp>
        <p:nvSpPr>
          <p:cNvPr id="10" name="">
            <a:extLst xmlns:a="http://schemas.openxmlformats.org/drawingml/2006/main">
              <a:ext uri="{FF2B5EF4-FFF2-40B4-BE49-F238E27FC236}">
                <a16:creationId xmlns:a16="http://schemas.microsoft.com/office/drawing/2014/main" id="{08C73154-3B64-4FA5-850B-35B37EAB9397}"/>
              </a:ext>
            </a:extLst>
          </p:cNvPr>
          <p:cNvSpPr>
            <a:spLocks xmlns:a="http://schemas.openxmlformats.org/drawingml/2006/main" noGrp="1"/>
          </p:cNvSpPr>
          <p:nvPr/>
        </p:nvSpPr>
        <p:spPr>
          <a:xfrm xmlns:a="http://schemas.openxmlformats.org/drawingml/2006/main">
            <a:off x="3714750" y="330517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Bookmark a meaningful place for later.</a:t>
            </a:r>
          </a:p>
        </p:txBody>
      </p:sp>
      <p:sp>
        <p:nvSpPr>
          <p:cNvPr id="11" name="">
            <a:extLst xmlns:a="http://schemas.openxmlformats.org/drawingml/2006/main">
              <a:ext uri="{FF2B5EF4-FFF2-40B4-BE49-F238E27FC236}">
                <a16:creationId xmlns:a16="http://schemas.microsoft.com/office/drawing/2014/main" id="{139A05AA-7151-4023-BC72-448EE0E24484}"/>
              </a:ext>
            </a:extLst>
          </p:cNvPr>
          <p:cNvSpPr>
            <a:spLocks xmlns:a="http://schemas.openxmlformats.org/drawingml/2006/main" noGrp="1"/>
          </p:cNvSpPr>
          <p:nvPr/>
        </p:nvSpPr>
        <p:spPr>
          <a:xfrm xmlns:a="http://schemas.openxmlformats.org/drawingml/2006/main">
            <a:off x="1028700" y="3705225"/>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2" name="">
            <a:extLst xmlns:a="http://schemas.openxmlformats.org/drawingml/2006/main">
              <a:ext uri="{FF2B5EF4-FFF2-40B4-BE49-F238E27FC236}">
                <a16:creationId xmlns:a16="http://schemas.microsoft.com/office/drawing/2014/main" id="{34147DE9-4C09-4362-AA6A-F45DB998176A}"/>
              </a:ext>
            </a:extLst>
          </p:cNvPr>
          <p:cNvSpPr>
            <a:spLocks xmlns:a="http://schemas.openxmlformats.org/drawingml/2006/main" noGrp="1"/>
          </p:cNvSpPr>
          <p:nvPr/>
        </p:nvSpPr>
        <p:spPr>
          <a:xfrm xmlns:a="http://schemas.openxmlformats.org/drawingml/2006/main">
            <a:off x="704850" y="388620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A83FDE40-DD31-4609-8464-27C1FE0230ED}"/>
              </a:ext>
            </a:extLst>
          </p:cNvPr>
          <p:cNvSpPr>
            <a:spLocks xmlns:a="http://schemas.openxmlformats.org/drawingml/2006/main" noGrp="1"/>
          </p:cNvSpPr>
          <p:nvPr/>
        </p:nvSpPr>
        <p:spPr>
          <a:xfrm xmlns:a="http://schemas.openxmlformats.org/drawingml/2006/main">
            <a:off x="1028700" y="3924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2B1D14"/>
                </a:solidFill>
                <a:latin typeface="Aptos"/>
                <a:ea typeface="Aptos"/>
                <a:cs typeface="Aptos"/>
              </a:defRPr>
            </a:pPr>
            <a:r>
              <a:rPr sz="1425" b="1" i="0">
                <a:solidFill>
                  <a:srgbClr val="2B1D14"/>
                </a:solidFill>
                <a:latin typeface="Aptos"/>
                <a:ea typeface="Aptos"/>
                <a:cs typeface="Aptos"/>
              </a:rPr>
              <a:t>Plan</a:t>
            </a:r>
          </a:p>
        </p:txBody>
      </p:sp>
      <p:sp>
        <p:nvSpPr>
          <p:cNvPr id="14" name="">
            <a:extLst xmlns:a="http://schemas.openxmlformats.org/drawingml/2006/main">
              <a:ext uri="{FF2B5EF4-FFF2-40B4-BE49-F238E27FC236}">
                <a16:creationId xmlns:a16="http://schemas.microsoft.com/office/drawing/2014/main" id="{427CE75F-C44E-4A85-A934-EB877984723B}"/>
              </a:ext>
            </a:extLst>
          </p:cNvPr>
          <p:cNvSpPr>
            <a:spLocks xmlns:a="http://schemas.openxmlformats.org/drawingml/2006/main" noGrp="1"/>
          </p:cNvSpPr>
          <p:nvPr/>
        </p:nvSpPr>
        <p:spPr>
          <a:xfrm xmlns:a="http://schemas.openxmlformats.org/drawingml/2006/main">
            <a:off x="3714750" y="39243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Build a journey around saved stops and travel mode.</a:t>
            </a:r>
          </a:p>
        </p:txBody>
      </p:sp>
      <p:sp>
        <p:nvSpPr>
          <p:cNvPr id="15" name="">
            <a:extLst xmlns:a="http://schemas.openxmlformats.org/drawingml/2006/main">
              <a:ext uri="{FF2B5EF4-FFF2-40B4-BE49-F238E27FC236}">
                <a16:creationId xmlns:a16="http://schemas.microsoft.com/office/drawing/2014/main" id="{6B45450B-ED33-4396-BCF0-7DB71D86ABC0}"/>
              </a:ext>
            </a:extLst>
          </p:cNvPr>
          <p:cNvSpPr>
            <a:spLocks xmlns:a="http://schemas.openxmlformats.org/drawingml/2006/main" noGrp="1"/>
          </p:cNvSpPr>
          <p:nvPr/>
        </p:nvSpPr>
        <p:spPr>
          <a:xfrm xmlns:a="http://schemas.openxmlformats.org/drawingml/2006/main">
            <a:off x="1028700" y="432435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16" name="">
            <a:extLst xmlns:a="http://schemas.openxmlformats.org/drawingml/2006/main">
              <a:ext uri="{FF2B5EF4-FFF2-40B4-BE49-F238E27FC236}">
                <a16:creationId xmlns:a16="http://schemas.microsoft.com/office/drawing/2014/main" id="{AD7C65AA-3DD7-49AC-8A64-8FDE71E3897C}"/>
              </a:ext>
            </a:extLst>
          </p:cNvPr>
          <p:cNvSpPr>
            <a:spLocks xmlns:a="http://schemas.openxmlformats.org/drawingml/2006/main" noGrp="1"/>
          </p:cNvSpPr>
          <p:nvPr/>
        </p:nvSpPr>
        <p:spPr>
          <a:xfrm xmlns:a="http://schemas.openxmlformats.org/drawingml/2006/main">
            <a:off x="704850" y="4505325"/>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C9E5D919-631E-44F8-92A8-10163DD7E911}"/>
              </a:ext>
            </a:extLst>
          </p:cNvPr>
          <p:cNvSpPr>
            <a:spLocks xmlns:a="http://schemas.openxmlformats.org/drawingml/2006/main" noGrp="1"/>
          </p:cNvSpPr>
          <p:nvPr/>
        </p:nvSpPr>
        <p:spPr>
          <a:xfrm xmlns:a="http://schemas.openxmlformats.org/drawingml/2006/main">
            <a:off x="1028700" y="45434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2B1D14"/>
                </a:solidFill>
                <a:latin typeface="Aptos"/>
                <a:ea typeface="Aptos"/>
                <a:cs typeface="Aptos"/>
              </a:defRPr>
            </a:pPr>
            <a:r>
              <a:rPr sz="1425" b="1" i="0">
                <a:solidFill>
                  <a:srgbClr val="2B1D14"/>
                </a:solidFill>
                <a:latin typeface="Aptos"/>
                <a:ea typeface="Aptos"/>
                <a:cs typeface="Aptos"/>
              </a:rPr>
              <a:t>Navigate</a:t>
            </a:r>
          </a:p>
        </p:txBody>
      </p:sp>
      <p:sp>
        <p:nvSpPr>
          <p:cNvPr id="18" name="">
            <a:extLst xmlns:a="http://schemas.openxmlformats.org/drawingml/2006/main">
              <a:ext uri="{FF2B5EF4-FFF2-40B4-BE49-F238E27FC236}">
                <a16:creationId xmlns:a16="http://schemas.microsoft.com/office/drawing/2014/main" id="{65515138-75C1-4020-BC06-23AC97AE2129}"/>
              </a:ext>
            </a:extLst>
          </p:cNvPr>
          <p:cNvSpPr>
            <a:spLocks xmlns:a="http://schemas.openxmlformats.org/drawingml/2006/main" noGrp="1"/>
          </p:cNvSpPr>
          <p:nvPr/>
        </p:nvSpPr>
        <p:spPr>
          <a:xfrm xmlns:a="http://schemas.openxmlformats.org/drawingml/2006/main">
            <a:off x="3714750" y="4543425"/>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Use the interactive map to explore with confidence.</a:t>
            </a:r>
          </a:p>
        </p:txBody>
      </p:sp>
      <p:sp>
        <p:nvSpPr>
          <p:cNvPr id="19" name="">
            <a:extLst xmlns:a="http://schemas.openxmlformats.org/drawingml/2006/main">
              <a:ext uri="{FF2B5EF4-FFF2-40B4-BE49-F238E27FC236}">
                <a16:creationId xmlns:a16="http://schemas.microsoft.com/office/drawing/2014/main" id="{C7048A1A-87B8-475F-A09C-C55CC6E1644D}"/>
              </a:ext>
            </a:extLst>
          </p:cNvPr>
          <p:cNvSpPr>
            <a:spLocks xmlns:a="http://schemas.openxmlformats.org/drawingml/2006/main" noGrp="1"/>
          </p:cNvSpPr>
          <p:nvPr/>
        </p:nvSpPr>
        <p:spPr>
          <a:xfrm xmlns:a="http://schemas.openxmlformats.org/drawingml/2006/main">
            <a:off x="1028700" y="4943475"/>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0" name="">
            <a:extLst xmlns:a="http://schemas.openxmlformats.org/drawingml/2006/main">
              <a:ext uri="{FF2B5EF4-FFF2-40B4-BE49-F238E27FC236}">
                <a16:creationId xmlns:a16="http://schemas.microsoft.com/office/drawing/2014/main" id="{A5B49E6E-E84B-4D3D-A4B0-06DB52E7A0BE}"/>
              </a:ext>
            </a:extLst>
          </p:cNvPr>
          <p:cNvSpPr>
            <a:spLocks xmlns:a="http://schemas.openxmlformats.org/drawingml/2006/main" noGrp="1"/>
          </p:cNvSpPr>
          <p:nvPr/>
        </p:nvSpPr>
        <p:spPr>
          <a:xfrm xmlns:a="http://schemas.openxmlformats.org/drawingml/2006/main">
            <a:off x="704850" y="5124450"/>
            <a:ext cx="22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9E42"/>
                </a:solidFill>
                <a:latin typeface="Aptos"/>
                <a:ea typeface="Aptos"/>
                <a:cs typeface="Aptos"/>
              </a:defRPr>
            </a:pPr>
            <a:r>
              <a:rPr sz="1875" b="1" i="0">
                <a:solidFill>
                  <a:srgbClr val="C99E42"/>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4E42171A-26EA-4335-82CD-AB029BF615FC}"/>
              </a:ext>
            </a:extLst>
          </p:cNvPr>
          <p:cNvSpPr>
            <a:spLocks xmlns:a="http://schemas.openxmlformats.org/drawingml/2006/main" noGrp="1"/>
          </p:cNvSpPr>
          <p:nvPr/>
        </p:nvSpPr>
        <p:spPr>
          <a:xfrm xmlns:a="http://schemas.openxmlformats.org/drawingml/2006/main">
            <a:off x="1028700" y="5162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2B1D14"/>
                </a:solidFill>
                <a:latin typeface="Aptos"/>
                <a:ea typeface="Aptos"/>
                <a:cs typeface="Aptos"/>
              </a:defRPr>
            </a:pPr>
            <a:r>
              <a:rPr sz="1425" b="1" i="0">
                <a:solidFill>
                  <a:srgbClr val="2B1D14"/>
                </a:solidFill>
                <a:latin typeface="Aptos"/>
                <a:ea typeface="Aptos"/>
                <a:cs typeface="Aptos"/>
              </a:rPr>
              <a:t>Ask &amp; share</a:t>
            </a:r>
          </a:p>
        </p:txBody>
      </p:sp>
      <p:sp>
        <p:nvSpPr>
          <p:cNvPr id="22" name="">
            <a:extLst xmlns:a="http://schemas.openxmlformats.org/drawingml/2006/main">
              <a:ext uri="{FF2B5EF4-FFF2-40B4-BE49-F238E27FC236}">
                <a16:creationId xmlns:a16="http://schemas.microsoft.com/office/drawing/2014/main" id="{81F5737C-010E-4D31-BAB6-E702B1792D4A}"/>
              </a:ext>
            </a:extLst>
          </p:cNvPr>
          <p:cNvSpPr>
            <a:spLocks xmlns:a="http://schemas.openxmlformats.org/drawingml/2006/main" noGrp="1"/>
          </p:cNvSpPr>
          <p:nvPr/>
        </p:nvSpPr>
        <p:spPr>
          <a:xfrm xmlns:a="http://schemas.openxmlformats.org/drawingml/2006/main">
            <a:off x="3714750" y="516255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806F65"/>
                </a:solidFill>
                <a:latin typeface="Aptos"/>
                <a:ea typeface="Aptos"/>
                <a:cs typeface="Aptos"/>
              </a:defRPr>
            </a:pPr>
            <a:r>
              <a:rPr sz="1350" b="0" i="0">
                <a:solidFill>
                  <a:srgbClr val="806F65"/>
                </a:solidFill>
                <a:latin typeface="Aptos"/>
                <a:ea typeface="Aptos"/>
                <a:cs typeface="Aptos"/>
              </a:rPr>
              <a:t>Use the AI guide and community when context is needed.</a:t>
            </a:r>
          </a:p>
        </p:txBody>
      </p:sp>
      <p:sp>
        <p:nvSpPr>
          <p:cNvPr id="23" name="">
            <a:extLst xmlns:a="http://schemas.openxmlformats.org/drawingml/2006/main">
              <a:ext uri="{FF2B5EF4-FFF2-40B4-BE49-F238E27FC236}">
                <a16:creationId xmlns:a16="http://schemas.microsoft.com/office/drawing/2014/main" id="{13424D62-3C69-4A2B-8456-530239C0724C}"/>
              </a:ext>
            </a:extLst>
          </p:cNvPr>
          <p:cNvSpPr>
            <a:spLocks xmlns:a="http://schemas.openxmlformats.org/drawingml/2006/main" noGrp="1"/>
          </p:cNvSpPr>
          <p:nvPr/>
        </p:nvSpPr>
        <p:spPr>
          <a:xfrm xmlns:a="http://schemas.openxmlformats.org/drawingml/2006/main">
            <a:off x="1028700" y="5562600"/>
            <a:ext cx="7286625"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517d59b7cd3343cc"/>
          <a:srcRect xmlns:a="http://schemas.openxmlformats.org/drawingml/2006/main" l="19284" t="0" r="19284" b="0"/>
          <a:stretch xmlns:a="http://schemas.openxmlformats.org/drawingml/2006/main">
            <a:fillRect l="0" t="0" r="0" b="0"/>
          </a:stretch>
        </p:blipFill>
        <p:spPr>
          <a:xfrm xmlns:a="http://schemas.openxmlformats.org/drawingml/2006/main">
            <a:off x="9115425" y="971550"/>
            <a:ext cx="2095500" cy="4572000"/>
          </a:xfrm>
          <a:prstGeom xmlns:a="http://schemas.openxmlformats.org/drawingml/2006/main" prst="roundRect">
            <a:avLst>
              <a:gd name="adj" fmla="val 7273"/>
            </a:avLst>
          </a:prstGeom>
        </p:spPr>
      </p:pic>
      <p:sp>
        <p:nvSpPr>
          <p:cNvPr id="25" name="">
            <a:extLst xmlns:a="http://schemas.openxmlformats.org/drawingml/2006/main">
              <a:ext uri="{FF2B5EF4-FFF2-40B4-BE49-F238E27FC236}">
                <a16:creationId xmlns:a16="http://schemas.microsoft.com/office/drawing/2014/main" id="{560DFEFB-E8C8-42BD-BE12-BDC981019C78}"/>
              </a:ext>
            </a:extLst>
          </p:cNvPr>
          <p:cNvSpPr>
            <a:spLocks xmlns:a="http://schemas.openxmlformats.org/drawingml/2006/main" noGrp="1"/>
          </p:cNvSpPr>
          <p:nvPr/>
        </p:nvSpPr>
        <p:spPr>
          <a:xfrm xmlns:a="http://schemas.openxmlformats.org/drawingml/2006/main">
            <a:off x="8858250" y="5715000"/>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2B1D14"/>
                </a:solidFill>
                <a:latin typeface="Georgia"/>
                <a:ea typeface="Georgia"/>
                <a:cs typeface="Georgia"/>
              </a:defRPr>
            </a:pPr>
            <a:r>
              <a:rPr sz="1350" b="1" i="0">
                <a:solidFill>
                  <a:srgbClr val="2B1D14"/>
                </a:solidFill>
                <a:latin typeface="Georgia"/>
                <a:ea typeface="Georgia"/>
                <a:cs typeface="Georgia"/>
              </a:rPr>
              <a:t>Now switch to the</a:t>
            </a:r>
          </a:p>
          <a:p xmlns:a="http://schemas.openxmlformats.org/drawingml/2006/main">
            <a:pPr algn="ctr">
              <a:buNone/>
              <a:defRPr sz="1350" b="1" i="0">
                <a:solidFill>
                  <a:srgbClr val="2B1D14"/>
                </a:solidFill>
                <a:latin typeface="Georgia"/>
                <a:ea typeface="Georgia"/>
                <a:cs typeface="Georgia"/>
              </a:defRPr>
            </a:pPr>
            <a:r>
              <a:rPr sz="1350" b="1" i="0">
                <a:solidFill>
                  <a:srgbClr val="2B1D14"/>
                </a:solidFill>
                <a:latin typeface="Georgia"/>
                <a:ea typeface="Georgia"/>
                <a:cs typeface="Georgia"/>
              </a:rPr>
              <a:t>working Android app.</a:t>
            </a:r>
          </a:p>
        </p:txBody>
      </p:sp>
      <p:sp>
        <p:nvSpPr>
          <p:cNvPr id="26" name="">
            <a:extLst xmlns:a="http://schemas.openxmlformats.org/drawingml/2006/main">
              <a:ext uri="{FF2B5EF4-FFF2-40B4-BE49-F238E27FC236}">
                <a16:creationId xmlns:a16="http://schemas.microsoft.com/office/drawing/2014/main" id="{8241A9DB-9F50-4FDF-B0D6-60BF1F902A7C}"/>
              </a:ext>
            </a:extLst>
          </p:cNvPr>
          <p:cNvSpPr>
            <a:spLocks xmlns:a="http://schemas.openxmlformats.org/drawingml/2006/main" noGrp="1"/>
          </p:cNvSpPr>
          <p:nvPr/>
        </p:nvSpPr>
        <p:spPr>
          <a:xfrm xmlns:a="http://schemas.openxmlformats.org/drawingml/2006/main">
            <a:off x="685800" y="6343650"/>
            <a:ext cx="10820400" cy="0"/>
          </a:xfrm>
          <a:prstGeom xmlns:a="http://schemas.openxmlformats.org/drawingml/2006/main" prst="line">
            <a:avLst/>
          </a:prstGeom>
          <a:noFill xmlns:a="http://schemas.openxmlformats.org/drawingml/2006/main"/>
          <a:ln xmlns:a="http://schemas.openxmlformats.org/drawingml/2006/main" w="13335">
            <a:solidFill>
              <a:srgbClr val="DBCDBD"/>
            </a:solidFill>
            <a:prstDash val="solid"/>
          </a:ln>
        </p:spPr>
      </p:sp>
      <p:sp>
        <p:nvSpPr>
          <p:cNvPr id="27" name="">
            <a:extLst xmlns:a="http://schemas.openxmlformats.org/drawingml/2006/main">
              <a:ext uri="{FF2B5EF4-FFF2-40B4-BE49-F238E27FC236}">
                <a16:creationId xmlns:a16="http://schemas.microsoft.com/office/drawing/2014/main" id="{ADDF2216-DC59-4DF0-82CE-A49911201860}"/>
              </a:ext>
            </a:extLst>
          </p:cNvPr>
          <p:cNvSpPr>
            <a:spLocks xmlns:a="http://schemas.openxmlformats.org/drawingml/2006/main" noGrp="1"/>
          </p:cNvSpPr>
          <p:nvPr/>
        </p:nvSpPr>
        <p:spPr>
          <a:xfrm xmlns:a="http://schemas.openxmlformats.org/drawingml/2006/main">
            <a:off x="685800" y="64770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i="0">
                <a:solidFill>
                  <a:srgbClr val="806F65"/>
                </a:solidFill>
                <a:latin typeface="Aptos"/>
                <a:ea typeface="Aptos"/>
                <a:cs typeface="Aptos"/>
              </a:defRPr>
            </a:pPr>
            <a:r>
              <a:rPr sz="750" b="1" i="0">
                <a:solidFill>
                  <a:srgbClr val="806F65"/>
                </a:solidFill>
                <a:latin typeface="Aptos"/>
                <a:ea typeface="Aptos"/>
                <a:cs typeface="Aptos"/>
              </a:rPr>
              <a:t>BAGANETIC  •  EXPLORE WITH CONTEXT</a:t>
            </a:r>
          </a:p>
        </p:txBody>
      </p:sp>
    </p:spTree>
    <p:extLst>
      <p:ext uri="{BB962C8B-B14F-4D97-AF65-F5344CB8AC3E}">
        <p14:creationId xmlns:p14="http://schemas.microsoft.com/office/powerpoint/2010/main" val="1908716510"/>
      </p:ext>
    </p:extLst>
  </p:cSld>
</p:sld>
</file>

<file path=ppt/slides/slide8.xml><?xml version="1.0" encoding="utf-8"?>
<p:sld xmlns:p="http://schemas.openxmlformats.org/presentationml/2006/main">
  <p:cSld>
    <p:bg>
      <p:bgPr>
        <a:solidFill xmlns:a="http://schemas.openxmlformats.org/drawingml/2006/main">
          <a:srgbClr val="3A2215"/>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963ec0cf5ca4a3c"/>
          <a:srcRect xmlns:a="http://schemas.openxmlformats.org/drawingml/2006/main" l="0" t="31158" r="0" b="3115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9F579D-55A4-48CD-9035-D7544969B9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B1D14">
              <a:alpha val="78431"/>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CD8D0B-314D-400D-838C-A180FF13E01C}"/>
              </a:ext>
            </a:extLst>
          </p:cNvPr>
          <p:cNvSpPr>
            <a:spLocks xmlns:a="http://schemas.openxmlformats.org/drawingml/2006/main" noGrp="1"/>
          </p:cNvSpPr>
          <p:nvPr/>
        </p:nvSpPr>
        <p:spPr>
          <a:xfrm xmlns:a="http://schemas.openxmlformats.org/drawingml/2006/main">
            <a:off x="723900" y="7429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C99E42"/>
                </a:solidFill>
                <a:latin typeface="Aptos"/>
                <a:ea typeface="Aptos"/>
                <a:cs typeface="Aptos"/>
              </a:defRPr>
            </a:pPr>
            <a:r>
              <a:rPr sz="1275" b="1" i="0">
                <a:solidFill>
                  <a:srgbClr val="C99E42"/>
                </a:solidFill>
                <a:latin typeface="Aptos"/>
                <a:ea typeface="Aptos"/>
                <a:cs typeface="Aptos"/>
              </a:rPr>
              <a:t>BAGANETIC</a:t>
            </a:r>
          </a:p>
        </p:txBody>
      </p:sp>
      <p:sp>
        <p:nvSpPr>
          <p:cNvPr id="4" name="">
            <a:extLst xmlns:a="http://schemas.openxmlformats.org/drawingml/2006/main">
              <a:ext uri="{FF2B5EF4-FFF2-40B4-BE49-F238E27FC236}">
                <a16:creationId xmlns:a16="http://schemas.microsoft.com/office/drawing/2014/main" id="{AF0D4E08-A939-41C4-A8DB-E228C10B893E}"/>
              </a:ext>
            </a:extLst>
          </p:cNvPr>
          <p:cNvSpPr>
            <a:spLocks xmlns:a="http://schemas.openxmlformats.org/drawingml/2006/main" noGrp="1"/>
          </p:cNvSpPr>
          <p:nvPr/>
        </p:nvSpPr>
        <p:spPr>
          <a:xfrm xmlns:a="http://schemas.openxmlformats.org/drawingml/2006/main">
            <a:off x="723900" y="20002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650" b="1" i="0">
                <a:solidFill>
                  <a:srgbClr val="FFFFFF"/>
                </a:solidFill>
                <a:latin typeface="Georgia"/>
                <a:ea typeface="Georgia"/>
                <a:cs typeface="Georgia"/>
              </a:defRPr>
            </a:pPr>
            <a:r>
              <a:rPr sz="4650" b="1" i="0">
                <a:solidFill>
                  <a:srgbClr val="FFFFFF"/>
                </a:solidFill>
                <a:latin typeface="Georgia"/>
                <a:ea typeface="Georgia"/>
                <a:cs typeface="Georgia"/>
              </a:rPr>
              <a:t>From curiosity</a:t>
            </a:r>
          </a:p>
          <a:p xmlns:a="http://schemas.openxmlformats.org/drawingml/2006/main">
            <a:pPr algn="l">
              <a:buNone/>
              <a:defRPr sz="4650" b="1" i="0">
                <a:solidFill>
                  <a:srgbClr val="FFFFFF"/>
                </a:solidFill>
                <a:latin typeface="Georgia"/>
                <a:ea typeface="Georgia"/>
                <a:cs typeface="Georgia"/>
              </a:defRPr>
            </a:pPr>
            <a:r>
              <a:rPr sz="4650" b="1" i="0">
                <a:solidFill>
                  <a:srgbClr val="FFFFFF"/>
                </a:solidFill>
                <a:latin typeface="Georgia"/>
                <a:ea typeface="Georgia"/>
                <a:cs typeface="Georgia"/>
              </a:rPr>
              <a:t>to a better Bagan journey.</a:t>
            </a:r>
          </a:p>
        </p:txBody>
      </p:sp>
      <p:sp>
        <p:nvSpPr>
          <p:cNvPr id="5" name="">
            <a:extLst xmlns:a="http://schemas.openxmlformats.org/drawingml/2006/main">
              <a:ext uri="{FF2B5EF4-FFF2-40B4-BE49-F238E27FC236}">
                <a16:creationId xmlns:a16="http://schemas.microsoft.com/office/drawing/2014/main" id="{14B78C65-3D38-4352-BA45-24AA1A3B4FFA}"/>
              </a:ext>
            </a:extLst>
          </p:cNvPr>
          <p:cNvSpPr>
            <a:spLocks xmlns:a="http://schemas.openxmlformats.org/drawingml/2006/main" noGrp="1"/>
          </p:cNvSpPr>
          <p:nvPr/>
        </p:nvSpPr>
        <p:spPr>
          <a:xfrm xmlns:a="http://schemas.openxmlformats.org/drawingml/2006/main">
            <a:off x="762000" y="409575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i="0">
                <a:solidFill>
                  <a:srgbClr val="F7EBDD"/>
                </a:solidFill>
                <a:latin typeface="Aptos"/>
                <a:ea typeface="Aptos"/>
                <a:cs typeface="Aptos"/>
              </a:defRPr>
            </a:pPr>
            <a:r>
              <a:rPr sz="1800" b="0" i="0">
                <a:solidFill>
                  <a:srgbClr val="F7EBDD"/>
                </a:solidFill>
                <a:latin typeface="Aptos"/>
                <a:ea typeface="Aptos"/>
                <a:cs typeface="Aptos"/>
              </a:rPr>
              <a:t>Baganetic brings heritage discovery, practical planning, and local travel context into one working mobile app.</a:t>
            </a:r>
          </a:p>
        </p:txBody>
      </p:sp>
      <p:sp>
        <p:nvSpPr>
          <p:cNvPr id="6" name="">
            <a:extLst xmlns:a="http://schemas.openxmlformats.org/drawingml/2006/main">
              <a:ext uri="{FF2B5EF4-FFF2-40B4-BE49-F238E27FC236}">
                <a16:creationId xmlns:a16="http://schemas.microsoft.com/office/drawing/2014/main" id="{1FE8D107-F57C-4EDA-9787-48D4748008D5}"/>
              </a:ext>
            </a:extLst>
          </p:cNvPr>
          <p:cNvSpPr>
            <a:spLocks xmlns:a="http://schemas.openxmlformats.org/drawingml/2006/main" noGrp="1"/>
          </p:cNvSpPr>
          <p:nvPr/>
        </p:nvSpPr>
        <p:spPr>
          <a:xfrm xmlns:a="http://schemas.openxmlformats.org/drawingml/2006/main">
            <a:off x="762000" y="5334000"/>
            <a:ext cx="2476500" cy="0"/>
          </a:xfrm>
          <a:prstGeom xmlns:a="http://schemas.openxmlformats.org/drawingml/2006/main" prst="line">
            <a:avLst/>
          </a:prstGeom>
          <a:noFill xmlns:a="http://schemas.openxmlformats.org/drawingml/2006/main"/>
          <a:ln xmlns:a="http://schemas.openxmlformats.org/drawingml/2006/main" w="13335">
            <a:solidFill>
              <a:srgbClr val="C99E42"/>
            </a:solidFill>
            <a:prstDash val="solid"/>
          </a:ln>
        </p:spPr>
      </p:sp>
      <p:sp>
        <p:nvSpPr>
          <p:cNvPr id="7" name="">
            <a:extLst xmlns:a="http://schemas.openxmlformats.org/drawingml/2006/main">
              <a:ext uri="{FF2B5EF4-FFF2-40B4-BE49-F238E27FC236}">
                <a16:creationId xmlns:a16="http://schemas.microsoft.com/office/drawing/2014/main" id="{F973EFE4-EC17-4BE3-ABD0-5C38624F848F}"/>
              </a:ext>
            </a:extLst>
          </p:cNvPr>
          <p:cNvSpPr>
            <a:spLocks xmlns:a="http://schemas.openxmlformats.org/drawingml/2006/main" noGrp="1"/>
          </p:cNvSpPr>
          <p:nvPr/>
        </p:nvSpPr>
        <p:spPr>
          <a:xfrm xmlns:a="http://schemas.openxmlformats.org/drawingml/2006/main">
            <a:off x="762000" y="55626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C99E42"/>
                </a:solidFill>
                <a:latin typeface="Aptos"/>
                <a:ea typeface="Aptos"/>
                <a:cs typeface="Aptos"/>
              </a:defRPr>
            </a:pPr>
            <a:r>
              <a:rPr sz="1125" b="1" i="0">
                <a:solidFill>
                  <a:srgbClr val="C99E42"/>
                </a:solidFill>
                <a:latin typeface="Aptos"/>
                <a:ea typeface="Aptos"/>
                <a:cs typeface="Aptos"/>
              </a:rPr>
              <a:t>THANK YOU  •  LET'S SEE THE APP</a:t>
            </a:r>
          </a:p>
        </p:txBody>
      </p:sp>
    </p:spTree>
    <p:extLst>
      <p:ext uri="{BB962C8B-B14F-4D97-AF65-F5344CB8AC3E}">
        <p14:creationId xmlns:p14="http://schemas.microsoft.com/office/powerpoint/2010/main" val="17237701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2026-08-11T22:19:28.2660000Z</dcterms:created>
  <dcterms:modified xsi:type="dcterms:W3CDTF">2026-08-11T22:19:28.2660000Z</dcterms:modified>
</coreProperties>
</file>